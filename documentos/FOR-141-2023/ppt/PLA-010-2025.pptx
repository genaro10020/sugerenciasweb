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5C498-84A1-48BE-B9F3-7D30A53B87CD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98AE-444C-4232-A5C1-852E33A5550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572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18F28-2D85-4682-B5CE-22F8B0CF0BC9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04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971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797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500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666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299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576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934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038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962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138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669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E2F7C-BB65-478B-8239-87731F3E9976}" type="datetimeFigureOut">
              <a:rPr lang="es-ES" smtClean="0"/>
              <a:pPr/>
              <a:t>01/07/2025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9360363" y="6597352"/>
            <a:ext cx="2844800" cy="2606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REV</a:t>
            </a:r>
          </a:p>
        </p:txBody>
      </p:sp>
    </p:spTree>
    <p:extLst>
      <p:ext uri="{BB962C8B-B14F-4D97-AF65-F5344CB8AC3E}">
        <p14:creationId xmlns:p14="http://schemas.microsoft.com/office/powerpoint/2010/main" val="57941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4A30E-CB9B-4DF7-8EF6-52999B6C1191}" type="datetimeFigureOut">
              <a:rPr lang="es-MX" smtClean="0"/>
              <a:t>01/07/2025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57C5B-C455-4ADD-853A-D598E9B7D7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48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1.emf"/><Relationship Id="rId7" Type="http://schemas.openxmlformats.org/officeDocument/2006/relationships/image" Target="file:///C:\Mis%20documentos\Mis%20im&#225;genes\Dibujo.bm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emf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3.png"/><Relationship Id="rId7" Type="http://schemas.openxmlformats.org/officeDocument/2006/relationships/image" Target="../media/image5.w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Relationship Id="rId6" Type="http://schemas.openxmlformats.org/officeDocument/2006/relationships/image" Target="file:///C:\Mis%20documentos\Mis%20im&#225;genes\Dibujo.bmp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63 Rectángulo"/>
          <p:cNvSpPr/>
          <p:nvPr/>
        </p:nvSpPr>
        <p:spPr>
          <a:xfrm>
            <a:off x="6096000" y="1376800"/>
            <a:ext cx="4536504" cy="396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Rectángulo"/>
          <p:cNvSpPr/>
          <p:nvPr/>
        </p:nvSpPr>
        <p:spPr>
          <a:xfrm>
            <a:off x="1559496" y="1376800"/>
            <a:ext cx="4536504" cy="396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1559496" y="620688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559496" y="44624"/>
            <a:ext cx="9071992" cy="5040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3719232" y="65821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/>
              <a:t>SUGERENCIAS DE COLABORADORES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367808" y="692696"/>
            <a:ext cx="2772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Rectángulo"/>
          <p:cNvSpPr/>
          <p:nvPr/>
        </p:nvSpPr>
        <p:spPr>
          <a:xfrm>
            <a:off x="7212632" y="620688"/>
            <a:ext cx="3420000" cy="360040"/>
          </a:xfrm>
          <a:prstGeom prst="rect">
            <a:avLst/>
          </a:prstGeom>
          <a:solidFill>
            <a:schemeClr val="bg1">
              <a:lumMod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latin typeface="Arial" pitchFamily="34" charset="0"/>
                <a:cs typeface="Arial" pitchFamily="34" charset="0"/>
              </a:rPr>
              <a:t>ENERYA - RIASA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1559496" y="980728"/>
            <a:ext cx="3672408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Nombre del Colaborador: 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3071664" y="1052736"/>
            <a:ext cx="2088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"/>
          <p:cNvSpPr/>
          <p:nvPr/>
        </p:nvSpPr>
        <p:spPr>
          <a:xfrm>
            <a:off x="5231904" y="980728"/>
            <a:ext cx="2016224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N</a:t>
            </a:r>
            <a:r>
              <a:rPr lang="es-MX" sz="1050" dirty="0" err="1"/>
              <a:t>úmero</a:t>
            </a:r>
            <a:r>
              <a:rPr lang="es-MX" sz="1050" dirty="0"/>
              <a:t> de Nómina</a:t>
            </a:r>
            <a:r>
              <a:rPr lang="es-ES" sz="1050" dirty="0"/>
              <a:t>: 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6492120" y="1052736"/>
            <a:ext cx="720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"/>
          <p:cNvSpPr/>
          <p:nvPr/>
        </p:nvSpPr>
        <p:spPr>
          <a:xfrm>
            <a:off x="7248128" y="980728"/>
            <a:ext cx="2088232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Fecha de Sugerencia: </a:t>
            </a:r>
          </a:p>
        </p:txBody>
      </p:sp>
      <p:sp>
        <p:nvSpPr>
          <p:cNvPr id="21" name="20 Rectángulo"/>
          <p:cNvSpPr/>
          <p:nvPr/>
        </p:nvSpPr>
        <p:spPr>
          <a:xfrm>
            <a:off x="8544352" y="1052736"/>
            <a:ext cx="720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Rectángulo"/>
          <p:cNvSpPr/>
          <p:nvPr/>
        </p:nvSpPr>
        <p:spPr>
          <a:xfrm>
            <a:off x="9264504" y="980728"/>
            <a:ext cx="1368000" cy="3600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/>
              <a:t>Folio: </a:t>
            </a:r>
          </a:p>
        </p:txBody>
      </p:sp>
      <p:sp>
        <p:nvSpPr>
          <p:cNvPr id="23" name="22 Rectángulo"/>
          <p:cNvSpPr/>
          <p:nvPr/>
        </p:nvSpPr>
        <p:spPr>
          <a:xfrm>
            <a:off x="9696400" y="1052736"/>
            <a:ext cx="86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23 Elipse"/>
          <p:cNvSpPr/>
          <p:nvPr/>
        </p:nvSpPr>
        <p:spPr>
          <a:xfrm>
            <a:off x="1847528" y="1448808"/>
            <a:ext cx="252000" cy="25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s-MX" b="1" dirty="0">
                <a:solidFill>
                  <a:srgbClr val="FFFFFF"/>
                </a:solidFill>
              </a:rPr>
              <a:t>P</a:t>
            </a:r>
          </a:p>
        </p:txBody>
      </p:sp>
      <p:pic>
        <p:nvPicPr>
          <p:cNvPr id="25" name="Imagen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1506" y="1412776"/>
            <a:ext cx="185380" cy="288000"/>
          </a:xfrm>
          <a:prstGeom prst="rect">
            <a:avLst/>
          </a:prstGeom>
        </p:spPr>
      </p:pic>
      <p:sp>
        <p:nvSpPr>
          <p:cNvPr id="29" name="28 Rectángulo"/>
          <p:cNvSpPr/>
          <p:nvPr/>
        </p:nvSpPr>
        <p:spPr>
          <a:xfrm>
            <a:off x="1559496" y="1368152"/>
            <a:ext cx="4536504" cy="5310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29 CuadroTexto"/>
          <p:cNvSpPr txBox="1"/>
          <p:nvPr/>
        </p:nvSpPr>
        <p:spPr>
          <a:xfrm>
            <a:off x="2135560" y="139014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1" dirty="0">
                <a:solidFill>
                  <a:schemeClr val="bg1"/>
                </a:solidFill>
              </a:rPr>
              <a:t>PLAN</a:t>
            </a:r>
          </a:p>
        </p:txBody>
      </p:sp>
      <p:sp>
        <p:nvSpPr>
          <p:cNvPr id="31" name="30 Rectángulo"/>
          <p:cNvSpPr/>
          <p:nvPr/>
        </p:nvSpPr>
        <p:spPr>
          <a:xfrm>
            <a:off x="4295800" y="1466796"/>
            <a:ext cx="216024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2" name="31 Rectángulo"/>
          <p:cNvSpPr/>
          <p:nvPr/>
        </p:nvSpPr>
        <p:spPr>
          <a:xfrm>
            <a:off x="5735960" y="1466796"/>
            <a:ext cx="216024" cy="216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uadroTexto"/>
          <p:cNvSpPr txBox="1"/>
          <p:nvPr/>
        </p:nvSpPr>
        <p:spPr>
          <a:xfrm>
            <a:off x="4799856" y="1420921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No Factible</a:t>
            </a:r>
            <a:endParaRPr lang="es-MX" sz="1400" dirty="0">
              <a:solidFill>
                <a:schemeClr val="bg1"/>
              </a:solidFill>
            </a:endParaRPr>
          </a:p>
        </p:txBody>
      </p:sp>
      <p:sp>
        <p:nvSpPr>
          <p:cNvPr id="33" name="32 CuadroTexto"/>
          <p:cNvSpPr txBox="1"/>
          <p:nvPr/>
        </p:nvSpPr>
        <p:spPr>
          <a:xfrm>
            <a:off x="3575720" y="1412777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 Factible</a:t>
            </a:r>
            <a:endParaRPr lang="es-MX" sz="1400" dirty="0">
              <a:solidFill>
                <a:schemeClr val="bg1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611012" y="5973363"/>
            <a:ext cx="4412980" cy="648072"/>
            <a:chOff x="87012" y="6093296"/>
            <a:chExt cx="4412980" cy="648072"/>
          </a:xfrm>
        </p:grpSpPr>
        <p:sp>
          <p:nvSpPr>
            <p:cNvPr id="45" name="44 Rectángulo"/>
            <p:cNvSpPr/>
            <p:nvPr/>
          </p:nvSpPr>
          <p:spPr>
            <a:xfrm>
              <a:off x="107504" y="6093296"/>
              <a:ext cx="4392488" cy="64807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48 Rectángulo"/>
            <p:cNvSpPr/>
            <p:nvPr/>
          </p:nvSpPr>
          <p:spPr>
            <a:xfrm>
              <a:off x="1763688" y="6165304"/>
              <a:ext cx="2664296" cy="523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consumo de Desmoldante/producción</a:t>
              </a: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87012" y="6165304"/>
              <a:ext cx="17486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Beneficios Esperados</a:t>
              </a:r>
            </a:p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(Impacto/Indicador)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5" name="64 Elipse"/>
          <p:cNvSpPr/>
          <p:nvPr/>
        </p:nvSpPr>
        <p:spPr>
          <a:xfrm>
            <a:off x="6420064" y="1448808"/>
            <a:ext cx="252000" cy="25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s-MX" b="1" dirty="0">
                <a:solidFill>
                  <a:srgbClr val="FFFFFF"/>
                </a:solidFill>
              </a:rPr>
              <a:t>D</a:t>
            </a:r>
          </a:p>
        </p:txBody>
      </p:sp>
      <p:pic>
        <p:nvPicPr>
          <p:cNvPr id="66" name="Imagen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68011" y="1430808"/>
            <a:ext cx="183665" cy="288000"/>
          </a:xfrm>
          <a:prstGeom prst="rect">
            <a:avLst/>
          </a:prstGeom>
        </p:spPr>
      </p:pic>
      <p:sp>
        <p:nvSpPr>
          <p:cNvPr id="67" name="66 CuadroTexto"/>
          <p:cNvSpPr txBox="1"/>
          <p:nvPr/>
        </p:nvSpPr>
        <p:spPr>
          <a:xfrm>
            <a:off x="6672064" y="139014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i="1" dirty="0">
                <a:solidFill>
                  <a:schemeClr val="bg1"/>
                </a:solidFill>
              </a:rPr>
              <a:t>EJECUCIÓN</a:t>
            </a:r>
            <a:endParaRPr lang="es-ES" b="1" i="1" dirty="0">
              <a:solidFill>
                <a:schemeClr val="bg1"/>
              </a:solidFill>
            </a:endParaRPr>
          </a:p>
        </p:txBody>
      </p:sp>
      <p:sp>
        <p:nvSpPr>
          <p:cNvPr id="50" name="49 Rectángulo"/>
          <p:cNvSpPr/>
          <p:nvPr/>
        </p:nvSpPr>
        <p:spPr>
          <a:xfrm>
            <a:off x="6168008" y="1845040"/>
            <a:ext cx="4392000" cy="478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50 CuadroTexto"/>
          <p:cNvSpPr txBox="1"/>
          <p:nvPr/>
        </p:nvSpPr>
        <p:spPr>
          <a:xfrm>
            <a:off x="7091865" y="1825080"/>
            <a:ext cx="2544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solidFill>
                  <a:schemeClr val="bg1"/>
                </a:solidFill>
              </a:rPr>
              <a:t>Evidencia de la Implementación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8" name="57 Rectángulo"/>
          <p:cNvSpPr/>
          <p:nvPr/>
        </p:nvSpPr>
        <p:spPr>
          <a:xfrm>
            <a:off x="6240160" y="2132856"/>
            <a:ext cx="4248328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n/a</a:t>
            </a:r>
          </a:p>
        </p:txBody>
      </p:sp>
      <p:sp>
        <p:nvSpPr>
          <p:cNvPr id="69" name="68 Rectángulo redondeado"/>
          <p:cNvSpPr/>
          <p:nvPr/>
        </p:nvSpPr>
        <p:spPr>
          <a:xfrm>
            <a:off x="7680248" y="2060848"/>
            <a:ext cx="1368152" cy="216024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ANTES</a:t>
            </a:r>
            <a:endParaRPr lang="es-ES" sz="1400" dirty="0"/>
          </a:p>
        </p:txBody>
      </p:sp>
      <p:sp>
        <p:nvSpPr>
          <p:cNvPr id="76" name="75 CuadroTexto"/>
          <p:cNvSpPr txBox="1"/>
          <p:nvPr/>
        </p:nvSpPr>
        <p:spPr>
          <a:xfrm>
            <a:off x="8544272" y="1340769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</a:rPr>
              <a:t> Fecha de </a:t>
            </a:r>
          </a:p>
          <a:p>
            <a:r>
              <a:rPr lang="es-ES" sz="1100" dirty="0">
                <a:solidFill>
                  <a:schemeClr val="bg1"/>
                </a:solidFill>
              </a:rPr>
              <a:t>Implementación:</a:t>
            </a:r>
            <a:endParaRPr lang="es-MX" sz="1100" dirty="0">
              <a:solidFill>
                <a:schemeClr val="bg1"/>
              </a:solidFill>
            </a:endParaRPr>
          </a:p>
        </p:txBody>
      </p:sp>
      <p:sp>
        <p:nvSpPr>
          <p:cNvPr id="77" name="76 Rectángulo"/>
          <p:cNvSpPr/>
          <p:nvPr/>
        </p:nvSpPr>
        <p:spPr>
          <a:xfrm>
            <a:off x="9624392" y="1430808"/>
            <a:ext cx="900000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4" name="Grupo 3"/>
          <p:cNvGrpSpPr/>
          <p:nvPr/>
        </p:nvGrpSpPr>
        <p:grpSpPr>
          <a:xfrm>
            <a:off x="1631504" y="1724691"/>
            <a:ext cx="4356240" cy="2124008"/>
            <a:chOff x="107504" y="1772816"/>
            <a:chExt cx="4356240" cy="2124008"/>
          </a:xfrm>
        </p:grpSpPr>
        <p:sp>
          <p:nvSpPr>
            <p:cNvPr id="40" name="39 Rectángulo"/>
            <p:cNvSpPr/>
            <p:nvPr/>
          </p:nvSpPr>
          <p:spPr>
            <a:xfrm>
              <a:off x="107504" y="1844824"/>
              <a:ext cx="2088000" cy="205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456442" y="1825079"/>
              <a:ext cx="13901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chemeClr val="bg1"/>
                  </a:solidFill>
                </a:rPr>
                <a:t>Situación Actual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46 Rectángulo"/>
            <p:cNvSpPr/>
            <p:nvPr/>
          </p:nvSpPr>
          <p:spPr>
            <a:xfrm>
              <a:off x="179656" y="2116679"/>
              <a:ext cx="1944072" cy="16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dirty="0">
                  <a:solidFill>
                    <a:srgbClr val="41464B"/>
                  </a:solidFill>
                  <a:latin typeface="system-ui"/>
                </a:rPr>
                <a:t> Se gasta desmoldante porque se seca con el aire donde lo dejamos en las maquinas, aparte ocurren derrames</a:t>
              </a:r>
              <a:endParaRPr lang="es-ES" sz="1100" dirty="0">
                <a:solidFill>
                  <a:schemeClr val="tx1"/>
                </a:solidFill>
              </a:endParaRPr>
            </a:p>
          </p:txBody>
        </p:sp>
        <p:sp>
          <p:nvSpPr>
            <p:cNvPr id="57" name="56 Rectángulo"/>
            <p:cNvSpPr/>
            <p:nvPr/>
          </p:nvSpPr>
          <p:spPr>
            <a:xfrm>
              <a:off x="2267744" y="2205040"/>
              <a:ext cx="2196000" cy="16560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1" name="60 Rectángulo"/>
            <p:cNvSpPr/>
            <p:nvPr/>
          </p:nvSpPr>
          <p:spPr>
            <a:xfrm>
              <a:off x="2483768" y="1772816"/>
              <a:ext cx="187220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En caso de No Factibilidad, plasmar en este recuadro el MOTIVO del mismo.</a:t>
              </a:r>
              <a:endParaRPr lang="es-MX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61 Rectángulo redondeado"/>
            <p:cNvSpPr/>
            <p:nvPr/>
          </p:nvSpPr>
          <p:spPr>
            <a:xfrm>
              <a:off x="2537744" y="2132856"/>
              <a:ext cx="1656000" cy="21602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/>
                <a:t>DIBUJO ACTUAL</a:t>
              </a:r>
              <a:endParaRPr lang="es-ES" sz="1400" dirty="0"/>
            </a:p>
          </p:txBody>
        </p:sp>
      </p:grpSp>
      <p:sp>
        <p:nvSpPr>
          <p:cNvPr id="83" name="82 Rectángulo"/>
          <p:cNvSpPr/>
          <p:nvPr/>
        </p:nvSpPr>
        <p:spPr>
          <a:xfrm>
            <a:off x="6240016" y="4374729"/>
            <a:ext cx="4248328" cy="22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69 Rectángulo redondeado"/>
          <p:cNvSpPr/>
          <p:nvPr/>
        </p:nvSpPr>
        <p:spPr>
          <a:xfrm>
            <a:off x="7680176" y="4302721"/>
            <a:ext cx="1368152" cy="216024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DESPUÉS</a:t>
            </a:r>
            <a:endParaRPr lang="es-ES" sz="1400" dirty="0"/>
          </a:p>
        </p:txBody>
      </p:sp>
      <p:pic>
        <p:nvPicPr>
          <p:cNvPr id="1026" name="Picture 2" descr="C:\Users\agonzalezd.GONHER\AppData\Local\Microsoft\Windows\Temporary Internet Files\Content.Outlook\8IFN941U\Logo_MejoraContinua (3).png"/>
          <p:cNvPicPr>
            <a:picLocks noChangeAspect="1" noChangeArrowheads="1"/>
          </p:cNvPicPr>
          <p:nvPr/>
        </p:nvPicPr>
        <p:blipFill>
          <a:blip r:embed="rId5" cstate="print"/>
          <a:srcRect l="22766" t="7350" r="21542" b="52100"/>
          <a:stretch>
            <a:fillRect/>
          </a:stretch>
        </p:blipFill>
        <p:spPr bwMode="auto">
          <a:xfrm>
            <a:off x="9696400" y="61528"/>
            <a:ext cx="828000" cy="466854"/>
          </a:xfrm>
          <a:prstGeom prst="rect">
            <a:avLst/>
          </a:prstGeom>
          <a:noFill/>
        </p:spPr>
      </p:pic>
      <p:grpSp>
        <p:nvGrpSpPr>
          <p:cNvPr id="3" name="Grupo 2"/>
          <p:cNvGrpSpPr/>
          <p:nvPr/>
        </p:nvGrpSpPr>
        <p:grpSpPr>
          <a:xfrm>
            <a:off x="1631504" y="3851523"/>
            <a:ext cx="4356240" cy="2088232"/>
            <a:chOff x="107504" y="3933056"/>
            <a:chExt cx="4356240" cy="2088232"/>
          </a:xfrm>
        </p:grpSpPr>
        <p:sp>
          <p:nvSpPr>
            <p:cNvPr id="59" name="58 Rectángulo"/>
            <p:cNvSpPr/>
            <p:nvPr/>
          </p:nvSpPr>
          <p:spPr>
            <a:xfrm>
              <a:off x="2267744" y="4077072"/>
              <a:ext cx="2196000" cy="18722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3" name="62 Rectángulo redondeado"/>
            <p:cNvSpPr/>
            <p:nvPr/>
          </p:nvSpPr>
          <p:spPr>
            <a:xfrm>
              <a:off x="2537744" y="4005064"/>
              <a:ext cx="1656000" cy="21602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/>
                <a:t>DIBUJO PROPUESTA</a:t>
              </a:r>
              <a:endParaRPr lang="es-ES" sz="1400" dirty="0"/>
            </a:p>
          </p:txBody>
        </p:sp>
        <p:sp>
          <p:nvSpPr>
            <p:cNvPr id="86" name="85 Rectángulo"/>
            <p:cNvSpPr/>
            <p:nvPr/>
          </p:nvSpPr>
          <p:spPr>
            <a:xfrm>
              <a:off x="107504" y="3969288"/>
              <a:ext cx="2088000" cy="2052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7" name="86 Rectángulo"/>
            <p:cNvSpPr/>
            <p:nvPr/>
          </p:nvSpPr>
          <p:spPr>
            <a:xfrm>
              <a:off x="179656" y="4221088"/>
              <a:ext cx="1944072" cy="172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8" name="87 CuadroTexto"/>
            <p:cNvSpPr txBox="1"/>
            <p:nvPr/>
          </p:nvSpPr>
          <p:spPr>
            <a:xfrm>
              <a:off x="467544" y="3933056"/>
              <a:ext cx="13901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Idea Propuesta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28 Rectángulo"/>
          <p:cNvSpPr/>
          <p:nvPr/>
        </p:nvSpPr>
        <p:spPr>
          <a:xfrm>
            <a:off x="6095756" y="1368152"/>
            <a:ext cx="4536504" cy="5310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0" name="5 Imagen" descr="C:\Mis documentos\Mis imágenes\Dibujo.bmp"/>
          <p:cNvPicPr/>
          <p:nvPr/>
        </p:nvPicPr>
        <p:blipFill>
          <a:blip r:embed="rId6" r:link="rId7" cstate="print"/>
          <a:srcRect t="9990" b="14527"/>
          <a:stretch>
            <a:fillRect/>
          </a:stretch>
        </p:blipFill>
        <p:spPr bwMode="auto">
          <a:xfrm>
            <a:off x="1583307" y="65638"/>
            <a:ext cx="639775" cy="277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8" name="96 Imagen"/>
          <p:cNvPicPr/>
          <p:nvPr/>
        </p:nvPicPr>
        <p:blipFill rotWithShape="1">
          <a:blip r:embed="rId8" cstate="print">
            <a:clrChange>
              <a:clrFrom>
                <a:srgbClr val="F8FFEC"/>
              </a:clrFrom>
              <a:clrTo>
                <a:srgbClr val="F8FFEC">
                  <a:alpha val="0"/>
                </a:srgbClr>
              </a:clrTo>
            </a:clrChange>
          </a:blip>
          <a:srcRect l="6378" t="5438" r="5729" b="7596"/>
          <a:stretch/>
        </p:blipFill>
        <p:spPr bwMode="auto">
          <a:xfrm>
            <a:off x="2253381" y="263966"/>
            <a:ext cx="628454" cy="259354"/>
          </a:xfrm>
          <a:prstGeom prst="roundRect">
            <a:avLst>
              <a:gd name="adj" fmla="val 1291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CuadroTexto 6"/>
          <p:cNvSpPr txBox="1"/>
          <p:nvPr/>
        </p:nvSpPr>
        <p:spPr>
          <a:xfrm>
            <a:off x="8232357" y="6650111"/>
            <a:ext cx="2483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1000" dirty="0"/>
              <a:t>REV:01  DIC 14’ 2016 ER-FO-MJ-GR-05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511824" y="647007"/>
            <a:ext cx="1377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Desmoldante C-1</a:t>
            </a:r>
            <a:endParaRPr lang="es-MX" sz="1200" dirty="0"/>
          </a:p>
        </p:txBody>
      </p:sp>
      <p:sp>
        <p:nvSpPr>
          <p:cNvPr id="71" name="CuadroTexto 70"/>
          <p:cNvSpPr txBox="1"/>
          <p:nvPr/>
        </p:nvSpPr>
        <p:spPr>
          <a:xfrm>
            <a:off x="3145361" y="988112"/>
            <a:ext cx="1377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Jesus Hernandez</a:t>
            </a:r>
            <a:endParaRPr lang="es-MX" sz="1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6519594" y="97801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41464B"/>
                </a:solidFill>
                <a:latin typeface="system-ui"/>
              </a:rPr>
              <a:t>63928</a:t>
            </a:r>
            <a:endParaRPr lang="es-MX" dirty="0"/>
          </a:p>
        </p:txBody>
      </p:sp>
      <p:sp>
        <p:nvSpPr>
          <p:cNvPr id="72" name="CuadroTexto 71"/>
          <p:cNvSpPr txBox="1"/>
          <p:nvPr/>
        </p:nvSpPr>
        <p:spPr>
          <a:xfrm>
            <a:off x="8484097" y="1018878"/>
            <a:ext cx="9060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>
                <a:solidFill>
                  <a:srgbClr val="41464B"/>
                </a:solidFill>
                <a:latin typeface="system-ui"/>
              </a:rPr>
              <a:t>2025-02-22</a:t>
            </a:r>
            <a:endParaRPr lang="es-MX" sz="1100" dirty="0"/>
          </a:p>
        </p:txBody>
      </p:sp>
      <p:sp>
        <p:nvSpPr>
          <p:cNvPr id="73" name="CuadroTexto 72"/>
          <p:cNvSpPr txBox="1"/>
          <p:nvPr/>
        </p:nvSpPr>
        <p:spPr>
          <a:xfrm>
            <a:off x="9624392" y="1018878"/>
            <a:ext cx="1111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>
                <a:solidFill>
                  <a:srgbClr val="212529"/>
                </a:solidFill>
                <a:latin typeface="system-ui"/>
              </a:rPr>
              <a:t>PLA-010-2025</a:t>
            </a:r>
            <a:endParaRPr lang="es-MX" sz="1100" dirty="0"/>
          </a:p>
        </p:txBody>
      </p:sp>
      <p:sp>
        <p:nvSpPr>
          <p:cNvPr id="74" name="CuadroTexto 73"/>
          <p:cNvSpPr txBox="1"/>
          <p:nvPr/>
        </p:nvSpPr>
        <p:spPr>
          <a:xfrm>
            <a:off x="9676084" y="1425406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03-03-2025</a:t>
            </a:r>
          </a:p>
        </p:txBody>
      </p:sp>
      <p:sp>
        <p:nvSpPr>
          <p:cNvPr id="34" name="Rectángulo 33"/>
          <p:cNvSpPr/>
          <p:nvPr/>
        </p:nvSpPr>
        <p:spPr>
          <a:xfrm>
            <a:off x="1703656" y="4114395"/>
            <a:ext cx="19800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rgbClr val="41464B"/>
                </a:solidFill>
                <a:latin typeface="system-ui"/>
              </a:rPr>
              <a:t>La propuesta es hacer una sola cazuela para todos los turnos y con las aspas se este revolviendo para que no se haga duro y al final de turno regresar el sobrante a la cazuela</a:t>
            </a:r>
            <a:endParaRPr lang="es-MX" sz="1400" dirty="0"/>
          </a:p>
        </p:txBody>
      </p:sp>
      <p:pic>
        <p:nvPicPr>
          <p:cNvPr id="15" name="Imagen 14" descr="Imagen que contiene comida, tabla, parado, alimentos&#10;&#10;El contenido generado por IA puede ser incorrecto.">
            <a:extLst>
              <a:ext uri="{FF2B5EF4-FFF2-40B4-BE49-F238E27FC236}">
                <a16:creationId xmlns:a16="http://schemas.microsoft.com/office/drawing/2014/main" id="{A4C1E332-78F1-A2A5-C7D4-A3B424ACEDE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190" y="2358745"/>
            <a:ext cx="1288443" cy="169532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BE136AA-5116-0FCC-55EA-1202A5C5FE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006" y="4603223"/>
            <a:ext cx="1485087" cy="200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7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559496" y="1014636"/>
            <a:ext cx="4536504" cy="396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1559496" y="620688"/>
            <a:ext cx="5652120" cy="360040"/>
          </a:xfrm>
          <a:prstGeom prst="rect">
            <a:avLst/>
          </a:prstGeom>
          <a:solidFill>
            <a:srgbClr val="C00000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>
                <a:latin typeface="Arial" pitchFamily="34" charset="0"/>
                <a:cs typeface="Arial" pitchFamily="34" charset="0"/>
              </a:rPr>
              <a:t>NOMBRE DE LA SUGERENCIA: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559496" y="44624"/>
            <a:ext cx="9071992" cy="5040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3719232" y="65821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/>
              <a:t>SUGERENCIAS DE COLABORADORES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367808" y="692696"/>
            <a:ext cx="2772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18 Rectángulo"/>
          <p:cNvSpPr/>
          <p:nvPr/>
        </p:nvSpPr>
        <p:spPr>
          <a:xfrm>
            <a:off x="7212632" y="620688"/>
            <a:ext cx="3420000" cy="360040"/>
          </a:xfrm>
          <a:prstGeom prst="rect">
            <a:avLst/>
          </a:prstGeom>
          <a:solidFill>
            <a:schemeClr val="bg1">
              <a:lumMod val="5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latin typeface="Arial" pitchFamily="34" charset="0"/>
                <a:cs typeface="Arial" pitchFamily="34" charset="0"/>
              </a:rPr>
              <a:t>ENERYA - RIASA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6168008" y="1039019"/>
            <a:ext cx="4391496" cy="1836128"/>
            <a:chOff x="4644008" y="1124744"/>
            <a:chExt cx="4391496" cy="1836128"/>
          </a:xfrm>
        </p:grpSpPr>
        <p:sp>
          <p:nvSpPr>
            <p:cNvPr id="84" name="83 CuadroTexto"/>
            <p:cNvSpPr txBox="1"/>
            <p:nvPr/>
          </p:nvSpPr>
          <p:spPr>
            <a:xfrm>
              <a:off x="5124073" y="1484784"/>
              <a:ext cx="3431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¿Cómo y en qué se estandarizará la Mejora?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85" name="84 Rectángulo"/>
            <p:cNvSpPr/>
            <p:nvPr/>
          </p:nvSpPr>
          <p:spPr>
            <a:xfrm>
              <a:off x="4644008" y="1160872"/>
              <a:ext cx="4391496" cy="180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6" name="85 Rectángulo"/>
            <p:cNvSpPr/>
            <p:nvPr/>
          </p:nvSpPr>
          <p:spPr>
            <a:xfrm>
              <a:off x="4716016" y="1412776"/>
              <a:ext cx="4247640" cy="147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N/A</a:t>
              </a:r>
            </a:p>
          </p:txBody>
        </p:sp>
        <p:sp>
          <p:nvSpPr>
            <p:cNvPr id="87" name="86 CuadroTexto"/>
            <p:cNvSpPr txBox="1"/>
            <p:nvPr/>
          </p:nvSpPr>
          <p:spPr>
            <a:xfrm>
              <a:off x="5124073" y="1124744"/>
              <a:ext cx="3431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¿Aplica Horizontalidad?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6168008" y="2905995"/>
            <a:ext cx="4391496" cy="1944419"/>
            <a:chOff x="4644008" y="2991465"/>
            <a:chExt cx="4391496" cy="1855833"/>
          </a:xfrm>
        </p:grpSpPr>
        <p:sp>
          <p:nvSpPr>
            <p:cNvPr id="88" name="87 Rectángulo"/>
            <p:cNvSpPr/>
            <p:nvPr/>
          </p:nvSpPr>
          <p:spPr>
            <a:xfrm>
              <a:off x="4644008" y="3011298"/>
              <a:ext cx="4391496" cy="183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88 Rectángulo"/>
            <p:cNvSpPr/>
            <p:nvPr/>
          </p:nvSpPr>
          <p:spPr>
            <a:xfrm>
              <a:off x="4716016" y="3299242"/>
              <a:ext cx="4248472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N/A</a:t>
              </a:r>
            </a:p>
          </p:txBody>
        </p:sp>
        <p:sp>
          <p:nvSpPr>
            <p:cNvPr id="90" name="89 CuadroTexto"/>
            <p:cNvSpPr txBox="1"/>
            <p:nvPr/>
          </p:nvSpPr>
          <p:spPr>
            <a:xfrm>
              <a:off x="4716016" y="2991465"/>
              <a:ext cx="4248472" cy="29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En caso de aplicar, mencione en que procesos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6168008" y="4873699"/>
            <a:ext cx="4391496" cy="1767187"/>
            <a:chOff x="4644008" y="4854048"/>
            <a:chExt cx="4391496" cy="1767187"/>
          </a:xfrm>
        </p:grpSpPr>
        <p:sp>
          <p:nvSpPr>
            <p:cNvPr id="91" name="90 Rectángulo"/>
            <p:cNvSpPr/>
            <p:nvPr/>
          </p:nvSpPr>
          <p:spPr>
            <a:xfrm>
              <a:off x="4644008" y="4893043"/>
              <a:ext cx="4391496" cy="172819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2" name="91 Rectángulo"/>
            <p:cNvSpPr/>
            <p:nvPr/>
          </p:nvSpPr>
          <p:spPr>
            <a:xfrm>
              <a:off x="4716016" y="5161825"/>
              <a:ext cx="4248472" cy="1368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3" name="92 CuadroTexto"/>
            <p:cNvSpPr txBox="1"/>
            <p:nvPr/>
          </p:nvSpPr>
          <p:spPr>
            <a:xfrm>
              <a:off x="4716016" y="4854048"/>
              <a:ext cx="4248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Lecciones Aprendidas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6" name="35 Rectángulo"/>
          <p:cNvSpPr/>
          <p:nvPr/>
        </p:nvSpPr>
        <p:spPr>
          <a:xfrm>
            <a:off x="1559496" y="1014636"/>
            <a:ext cx="4536504" cy="5652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36 Rectángulo"/>
          <p:cNvSpPr/>
          <p:nvPr/>
        </p:nvSpPr>
        <p:spPr>
          <a:xfrm>
            <a:off x="6096000" y="1014636"/>
            <a:ext cx="4536504" cy="56520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9" name="38 Grupo"/>
          <p:cNvGrpSpPr/>
          <p:nvPr/>
        </p:nvGrpSpPr>
        <p:grpSpPr>
          <a:xfrm>
            <a:off x="1631504" y="1027978"/>
            <a:ext cx="2268224" cy="369332"/>
            <a:chOff x="4608032" y="4306438"/>
            <a:chExt cx="2268224" cy="369332"/>
          </a:xfrm>
        </p:grpSpPr>
        <p:sp>
          <p:nvSpPr>
            <p:cNvPr id="40" name="39 Elipse"/>
            <p:cNvSpPr/>
            <p:nvPr/>
          </p:nvSpPr>
          <p:spPr>
            <a:xfrm>
              <a:off x="4896064" y="4365104"/>
              <a:ext cx="252000" cy="252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28575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s-MX" b="1" dirty="0">
                  <a:solidFill>
                    <a:srgbClr val="FFFFFF"/>
                  </a:solidFill>
                </a:rPr>
                <a:t>C</a:t>
              </a:r>
            </a:p>
          </p:txBody>
        </p:sp>
        <p:pic>
          <p:nvPicPr>
            <p:cNvPr id="41" name="Imagen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8032" y="4354973"/>
              <a:ext cx="252000" cy="272262"/>
            </a:xfrm>
            <a:prstGeom prst="rect">
              <a:avLst/>
            </a:prstGeom>
          </p:spPr>
        </p:pic>
        <p:sp>
          <p:nvSpPr>
            <p:cNvPr id="42" name="41 CuadroTexto"/>
            <p:cNvSpPr txBox="1"/>
            <p:nvPr/>
          </p:nvSpPr>
          <p:spPr>
            <a:xfrm>
              <a:off x="5148064" y="4306438"/>
              <a:ext cx="1728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i="1" dirty="0">
                  <a:solidFill>
                    <a:schemeClr val="bg1"/>
                  </a:solidFill>
                </a:rPr>
                <a:t>VERIFICACIÓN</a:t>
              </a:r>
              <a:endParaRPr lang="es-ES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42 Rectángulo"/>
          <p:cNvSpPr/>
          <p:nvPr/>
        </p:nvSpPr>
        <p:spPr>
          <a:xfrm>
            <a:off x="1631504" y="1518692"/>
            <a:ext cx="4392488" cy="3096344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43 Rectángulo redondeado"/>
          <p:cNvSpPr/>
          <p:nvPr/>
        </p:nvSpPr>
        <p:spPr>
          <a:xfrm>
            <a:off x="2729748" y="1446684"/>
            <a:ext cx="2196000" cy="216024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INDICADOR DE LA MEJORA</a:t>
            </a:r>
            <a:endParaRPr lang="es-ES" sz="1400" dirty="0"/>
          </a:p>
        </p:txBody>
      </p:sp>
      <p:pic>
        <p:nvPicPr>
          <p:cNvPr id="45" name="Picture 2" descr="C:\Users\agonzalezd.GONHER\AppData\Local\Microsoft\Windows\Temporary Internet Files\Content.Outlook\8IFN941U\Logo_MejoraContinua (3).png"/>
          <p:cNvPicPr>
            <a:picLocks noChangeAspect="1" noChangeArrowheads="1"/>
          </p:cNvPicPr>
          <p:nvPr/>
        </p:nvPicPr>
        <p:blipFill>
          <a:blip r:embed="rId3" cstate="print"/>
          <a:srcRect l="22766" t="7350" r="21542" b="52100"/>
          <a:stretch>
            <a:fillRect/>
          </a:stretch>
        </p:blipFill>
        <p:spPr bwMode="auto">
          <a:xfrm>
            <a:off x="9696400" y="61528"/>
            <a:ext cx="828000" cy="466854"/>
          </a:xfrm>
          <a:prstGeom prst="rect">
            <a:avLst/>
          </a:prstGeom>
          <a:noFill/>
        </p:spPr>
      </p:pic>
      <p:grpSp>
        <p:nvGrpSpPr>
          <p:cNvPr id="56" name="55 Grupo"/>
          <p:cNvGrpSpPr/>
          <p:nvPr/>
        </p:nvGrpSpPr>
        <p:grpSpPr>
          <a:xfrm>
            <a:off x="1559496" y="4687044"/>
            <a:ext cx="4536504" cy="396016"/>
            <a:chOff x="35496" y="4509120"/>
            <a:chExt cx="4536504" cy="396016"/>
          </a:xfrm>
        </p:grpSpPr>
        <p:sp>
          <p:nvSpPr>
            <p:cNvPr id="46" name="45 Rectángulo"/>
            <p:cNvSpPr/>
            <p:nvPr/>
          </p:nvSpPr>
          <p:spPr>
            <a:xfrm>
              <a:off x="35496" y="4509120"/>
              <a:ext cx="4536504" cy="39601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9" name="48 Grupo"/>
            <p:cNvGrpSpPr/>
            <p:nvPr/>
          </p:nvGrpSpPr>
          <p:grpSpPr>
            <a:xfrm>
              <a:off x="107504" y="4522462"/>
              <a:ext cx="2592288" cy="369332"/>
              <a:chOff x="2699792" y="1066078"/>
              <a:chExt cx="2592288" cy="369332"/>
            </a:xfrm>
          </p:grpSpPr>
          <p:sp>
            <p:nvSpPr>
              <p:cNvPr id="50" name="49 Elipse"/>
              <p:cNvSpPr/>
              <p:nvPr/>
            </p:nvSpPr>
            <p:spPr>
              <a:xfrm>
                <a:off x="3023856" y="1124744"/>
                <a:ext cx="252000" cy="252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s-MX" b="1" dirty="0">
                    <a:solidFill>
                      <a:srgbClr val="FFFFFF"/>
                    </a:solidFill>
                  </a:rPr>
                  <a:t>A</a:t>
                </a:r>
              </a:p>
            </p:txBody>
          </p:sp>
          <p:pic>
            <p:nvPicPr>
              <p:cNvPr id="51" name="Imagen 1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99792" y="1104816"/>
                <a:ext cx="216000" cy="291857"/>
              </a:xfrm>
              <a:prstGeom prst="rect">
                <a:avLst/>
              </a:prstGeom>
            </p:spPr>
          </p:pic>
          <p:sp>
            <p:nvSpPr>
              <p:cNvPr id="52" name="51 CuadroTexto"/>
              <p:cNvSpPr txBox="1"/>
              <p:nvPr/>
            </p:nvSpPr>
            <p:spPr>
              <a:xfrm>
                <a:off x="3275856" y="1066078"/>
                <a:ext cx="20162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i="1" dirty="0">
                    <a:solidFill>
                      <a:schemeClr val="bg1"/>
                    </a:solidFill>
                  </a:rPr>
                  <a:t>ESTANDARIZACIÓN</a:t>
                </a:r>
                <a:endParaRPr lang="es-ES" b="1" i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upo 1"/>
          <p:cNvGrpSpPr/>
          <p:nvPr/>
        </p:nvGrpSpPr>
        <p:grpSpPr>
          <a:xfrm>
            <a:off x="1632496" y="5128717"/>
            <a:ext cx="4391496" cy="1512168"/>
            <a:chOff x="108496" y="5147567"/>
            <a:chExt cx="4391496" cy="1512168"/>
          </a:xfrm>
        </p:grpSpPr>
        <p:sp>
          <p:nvSpPr>
            <p:cNvPr id="53" name="52 Rectángulo"/>
            <p:cNvSpPr/>
            <p:nvPr/>
          </p:nvSpPr>
          <p:spPr>
            <a:xfrm>
              <a:off x="108496" y="5147567"/>
              <a:ext cx="4391496" cy="151216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53 Rectángulo"/>
            <p:cNvSpPr/>
            <p:nvPr/>
          </p:nvSpPr>
          <p:spPr>
            <a:xfrm>
              <a:off x="180504" y="5507607"/>
              <a:ext cx="4248472" cy="1080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N/A</a:t>
              </a: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588561" y="5147567"/>
              <a:ext cx="34313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</a:rPr>
                <a:t>¿Cómo y en qué se estandarizará la Mejora?</a:t>
              </a:r>
              <a:endParaRPr lang="es-ES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8" name="5 Imagen" descr="C:\Mis documentos\Mis imágenes\Dibujo.bmp"/>
          <p:cNvPicPr/>
          <p:nvPr/>
        </p:nvPicPr>
        <p:blipFill>
          <a:blip r:embed="rId5" r:link="rId6" cstate="print"/>
          <a:srcRect t="9990" b="14527"/>
          <a:stretch>
            <a:fillRect/>
          </a:stretch>
        </p:blipFill>
        <p:spPr bwMode="auto">
          <a:xfrm>
            <a:off x="1583307" y="65638"/>
            <a:ext cx="639775" cy="277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7" name="96 Imagen"/>
          <p:cNvPicPr/>
          <p:nvPr/>
        </p:nvPicPr>
        <p:blipFill rotWithShape="1">
          <a:blip r:embed="rId7" cstate="print">
            <a:clrChange>
              <a:clrFrom>
                <a:srgbClr val="F8FFEC"/>
              </a:clrFrom>
              <a:clrTo>
                <a:srgbClr val="F8FFEC">
                  <a:alpha val="0"/>
                </a:srgbClr>
              </a:clrTo>
            </a:clrChange>
          </a:blip>
          <a:srcRect l="6378" t="5438" r="5729" b="7596"/>
          <a:stretch/>
        </p:blipFill>
        <p:spPr bwMode="auto">
          <a:xfrm>
            <a:off x="2253381" y="263966"/>
            <a:ext cx="628454" cy="259354"/>
          </a:xfrm>
          <a:prstGeom prst="roundRect">
            <a:avLst>
              <a:gd name="adj" fmla="val 1291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8" name="CuadroTexto 57"/>
          <p:cNvSpPr txBox="1"/>
          <p:nvPr/>
        </p:nvSpPr>
        <p:spPr>
          <a:xfrm>
            <a:off x="8232357" y="6650111"/>
            <a:ext cx="2483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1000" dirty="0"/>
              <a:t>REV:01  DIC 14’ 2016 ER-FO-MJ-GR-05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244952" y="5233670"/>
            <a:ext cx="409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Escuchar las sugerencias del personal operativo permite identificar necesidades reales del área de trabajo.</a:t>
            </a:r>
            <a:endParaRPr lang="es-ES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F8A295-6541-67E2-C355-45DF70574C94}"/>
              </a:ext>
            </a:extLst>
          </p:cNvPr>
          <p:cNvSpPr txBox="1"/>
          <p:nvPr/>
        </p:nvSpPr>
        <p:spPr>
          <a:xfrm>
            <a:off x="4511824" y="647007"/>
            <a:ext cx="1377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41464B"/>
                </a:solidFill>
                <a:latin typeface="system-ui"/>
              </a:rPr>
              <a:t>Desmoldante C-1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65F0E7-53A3-505A-A54F-2A46E3A0E2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366" y="2234297"/>
            <a:ext cx="4007475" cy="17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70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Panorámica</PresentationFormat>
  <Paragraphs>57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system-ui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Brenda Anahi Lopez Rivera</dc:creator>
  <cp:lastModifiedBy>Brenda Anahi Lopez Rivera</cp:lastModifiedBy>
  <cp:revision>1</cp:revision>
  <dcterms:created xsi:type="dcterms:W3CDTF">2025-07-01T18:17:02Z</dcterms:created>
  <dcterms:modified xsi:type="dcterms:W3CDTF">2025-07-01T18:17:26Z</dcterms:modified>
</cp:coreProperties>
</file>