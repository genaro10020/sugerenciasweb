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81" r:id="rId3"/>
    <p:sldId id="283" r:id="rId4"/>
    <p:sldId id="288" r:id="rId5"/>
    <p:sldId id="290" r:id="rId6"/>
    <p:sldId id="292" r:id="rId7"/>
    <p:sldId id="286" r:id="rId8"/>
    <p:sldId id="284" r:id="rId9"/>
    <p:sldId id="280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2B3193-9A48-E449-1607-DB51901BBBF2}" v="4089" dt="2024-03-27T18:45:36.822"/>
    <p1510:client id="{A86EF5D4-2DBA-8092-04D3-6C0C38ADC16D}" v="3" dt="2024-03-27T15:18:48.835"/>
    <p1510:client id="{B8E47BFF-D6B4-4A11-9AF3-282F0B01C5BB}" v="3038" dt="2024-03-27T22:00:44.040"/>
    <p1510:client id="{C2C7B64B-4141-07AE-8209-1058BFA1C63C}" v="13" dt="2024-03-27T15:17:09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0C3C9-FDD4-4F08-C377-E4F9DC86B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950D7B-749B-C116-102E-40EF750B2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546DB5-6060-6C91-B608-AAF2B1089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959B3D-46EA-C74D-EE1D-9EB50B4C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E08C6C-8342-9FE4-B721-944555B9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3653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18B7C-1265-0422-9784-2C629C13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E2CBFF-1C33-95D7-2CAD-23B571F2C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4DA2AB-1FE4-0C18-BAB2-6C7095E3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27B540-493D-6FA7-54D2-D4CD55B5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3331F6-73A1-F1B4-ADD2-10D8184E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569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2297E-9A05-BBBB-9FCD-D2A8A5CBA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45BF1A-38A0-99C1-27F1-4C8016A89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9E6C4E-4CDC-566F-E068-C175CF04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A333E2-464D-9992-8502-EF34DD8E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A18F21-8B56-4DEE-4B7E-18355F54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87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FB430-46C5-431B-092E-2E661FB47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0AD54E-70EF-7290-B617-4E6811B8D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6FB770-08EE-0D79-4B72-C6C772777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BFC75C-99D3-8378-7BA1-03858A25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46EE0C-883C-8F29-7914-8DF1BBC3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3E50A5-E1B1-70F1-4ABE-23523906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2508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853EF-B089-B138-D7B3-6E7DD65A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947820-39E1-527D-5C1D-1A6003EC4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9A3D87-6C5A-E1A1-3288-A66EA059F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82568B-A109-547F-E281-2ADF5CCB4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5A6FAF-C438-BDC5-1BE5-A67A90B55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68D6E8-9CD0-E186-E087-A1841728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5480D34-EB63-9658-F848-A28D3F3F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73D93F-9F63-4C7E-10AC-ECB9D3D7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288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F8F8F-20D7-1977-E4D1-17640B1F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B74DD8-5FEF-0403-B5FE-426627262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2247AE-C4BC-946E-6AAA-AA1BC856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D383DEC-A448-10A8-29F2-24712900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400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5FDC59-5505-1344-D2A7-2E2406B9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1CDB75-15A6-3D73-2AA0-CBA60B931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441D20-F5E1-04F0-4E0D-64CB93DA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0616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B737B-362E-B44A-CDBA-1F47CFA7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CBBB7A-B31C-0FBC-75D1-EE4CF9574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70B33E-D1BE-B9AF-0F7D-CE4A92533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7F343D-5C51-1E92-1324-02A1113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3FD367-EDF7-9176-F4FB-8D8D9400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8771CB-F949-AB79-794D-76F664B5A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4898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19798-C682-9FBD-9EA3-EC55615B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415717-F82D-E431-AA5B-353854CB0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D6E5F9-F028-1ADF-5E08-C63B2671B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DBA464-45B1-4CDC-AE87-34FBF7C5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E82732-EF46-5478-A494-DB83D6F3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E19405-1ADF-D495-76BF-31CC6D62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7558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FEDF7-68E2-AA03-F63B-AF6C664D5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66904C-4F4A-EA42-1C14-FC84C224C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C4239F-4F70-3FC7-E4AE-7EE1B35A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658568-395A-FAE5-92A6-728E1FA9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C99556-9825-4EBC-1E73-3755BDA9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7664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C28F6D-8920-62AA-BEB7-CF445203D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2E74BB-FB44-0D48-83AA-FE4A89890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D14D16-46AD-488F-F2D2-C5FDB211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028476-D8F8-5900-AF98-41541096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22B417-6F48-03D3-43E6-7DE2C349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5408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65B048-4F9B-80F5-90CF-72EEFE24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13F86A-139A-28E1-0972-B874C6159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76A2BE-0510-BF36-4B82-3DF7F3C6C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E6BEC-0F61-439A-A697-3645276CF96A}" type="datetimeFigureOut">
              <a:rPr lang="es-MX" smtClean="0"/>
              <a:t>02/04/2024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D2A32-CF49-0EB6-6AEE-744E49C6D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CDBDF8-2E9F-B50D-3FF1-975790555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E85D5-E454-40D0-B22D-C97DD61AA5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225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DAA285A-1089-812E-6FD2-1C647BDFC0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1" t="11621" r="1430" b="11939"/>
          <a:stretch/>
        </p:blipFill>
        <p:spPr>
          <a:xfrm>
            <a:off x="152400" y="577746"/>
            <a:ext cx="6696222" cy="29515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b="1" dirty="0"/>
              <a:t>Reseña: </a:t>
            </a:r>
            <a:r>
              <a:rPr lang="es-MX" sz="1200" dirty="0"/>
              <a:t>Plataforma  creada en el 2020 cuya finalidad es la digitalización de la gestión del sistema de 5S, esto abarca desde la configuración y asignación de plantas, áreas, sub áreas, ayudas visuales y auditores (Plataforma web), hasta la realización de las auditorias en piso mediante el uso de tabletas (App). </a:t>
            </a:r>
          </a:p>
          <a:p>
            <a:endParaRPr lang="es-MX" sz="1200" dirty="0"/>
          </a:p>
          <a:p>
            <a:r>
              <a:rPr lang="es-MX" sz="1200" b="1" dirty="0"/>
              <a:t>Beneficios:</a:t>
            </a:r>
            <a:r>
              <a:rPr lang="es-MX" sz="1200" dirty="0"/>
              <a:t> Eliminar procesos manuales, eliminación de errores, unificación de criterios de auditor, automatización de reportes, mayor control y seguimiento a los hallazgos anteriores, se elimina el uso de papel para esta función, reducción del tiempo de auditoria (mayor productividad), mayor control de información histórica en MySQL (Antes era en papel y cada auditor la resguardaba), estadísticas disponibles mediante PBI, entre otros…</a:t>
            </a:r>
          </a:p>
          <a:p>
            <a:endParaRPr lang="es-MX" sz="1200" dirty="0"/>
          </a:p>
          <a:p>
            <a:r>
              <a:rPr lang="es-MX" sz="1200" b="1" dirty="0"/>
              <a:t>Tipo de Información:</a:t>
            </a:r>
            <a:r>
              <a:rPr lang="es-MX" sz="1200" dirty="0"/>
              <a:t> Fotografías, calificaciones de  5S.</a:t>
            </a:r>
          </a:p>
          <a:p>
            <a:endParaRPr lang="es-MX" sz="1200" dirty="0"/>
          </a:p>
          <a:p>
            <a:r>
              <a:rPr lang="es-MX" sz="1200" b="1" dirty="0"/>
              <a:t>¿Dónde se almacena la información?:  </a:t>
            </a:r>
            <a:r>
              <a:rPr lang="es-MX" sz="1200" dirty="0"/>
              <a:t>https://vvnorth.com/portal5s/index.php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9" y="4120159"/>
            <a:ext cx="6384879" cy="405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Plataforma?</a:t>
            </a:r>
            <a:r>
              <a:rPr lang="es-MX" sz="1200" dirty="0">
                <a:solidFill>
                  <a:sysClr val="windowText" lastClr="000000"/>
                </a:solidFill>
              </a:rPr>
              <a:t> Solo Admin (Ing. de Mejora Continua).</a:t>
            </a: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Plataforma:</a:t>
            </a:r>
            <a:r>
              <a:rPr lang="es-MX" sz="1200" dirty="0">
                <a:solidFill>
                  <a:sysClr val="windowText" lastClr="000000"/>
                </a:solidFill>
              </a:rPr>
              <a:t> Configuración de áreas , auditorias y asignación de auditores.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95A973-5B2C-7C57-7FF0-B9B6575B80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24" t="24785" r="66402" b="15676"/>
          <a:stretch/>
        </p:blipFill>
        <p:spPr>
          <a:xfrm>
            <a:off x="8159263" y="701367"/>
            <a:ext cx="2236762" cy="3376645"/>
          </a:xfrm>
          <a:prstGeom prst="rect">
            <a:avLst/>
          </a:prstGeom>
        </p:spPr>
      </p:pic>
      <p:sp>
        <p:nvSpPr>
          <p:cNvPr id="6" name="Flecha: a la izquierda y derecha 5">
            <a:extLst>
              <a:ext uri="{FF2B5EF4-FFF2-40B4-BE49-F238E27FC236}">
                <a16:creationId xmlns:a16="http://schemas.microsoft.com/office/drawing/2014/main" id="{AE9ECFDE-9852-6BB5-4CDE-32BF6937D574}"/>
              </a:ext>
            </a:extLst>
          </p:cNvPr>
          <p:cNvSpPr/>
          <p:nvPr/>
        </p:nvSpPr>
        <p:spPr>
          <a:xfrm>
            <a:off x="6962335" y="1717300"/>
            <a:ext cx="1083214" cy="295422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4FF7E0-C2EE-25E2-C235-D0F504A46217}"/>
              </a:ext>
            </a:extLst>
          </p:cNvPr>
          <p:cNvSpPr/>
          <p:nvPr/>
        </p:nvSpPr>
        <p:spPr>
          <a:xfrm>
            <a:off x="6991644" y="4109421"/>
            <a:ext cx="4904934" cy="596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App?</a:t>
            </a:r>
            <a:r>
              <a:rPr lang="es-MX" sz="1200" dirty="0">
                <a:solidFill>
                  <a:sysClr val="windowText" lastClr="000000"/>
                </a:solidFill>
              </a:rPr>
              <a:t> Solo los Auditores Internos asignados desde plataforma. </a:t>
            </a: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App:</a:t>
            </a:r>
            <a:r>
              <a:rPr lang="es-MX" sz="1200" dirty="0">
                <a:solidFill>
                  <a:sysClr val="windowText" lastClr="000000"/>
                </a:solidFill>
              </a:rPr>
              <a:t> Solo para realizar las auditorias.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301134" y="54323"/>
            <a:ext cx="4904934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b="1" dirty="0">
                <a:solidFill>
                  <a:schemeClr val="bg1"/>
                </a:solidFill>
              </a:rPr>
              <a:t>Plataforma + App 5´S</a:t>
            </a:r>
            <a:endParaRPr lang="es-MX" sz="28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71204"/>
            <a:ext cx="4489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PHP, VUE y Axios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C534A4-D333-87CF-3033-A53DB31529C4}"/>
              </a:ext>
            </a:extLst>
          </p:cNvPr>
          <p:cNvSpPr txBox="1"/>
          <p:nvPr/>
        </p:nvSpPr>
        <p:spPr>
          <a:xfrm>
            <a:off x="10365547" y="2828091"/>
            <a:ext cx="1772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JAVA y Conexiones Volley</a:t>
            </a:r>
          </a:p>
        </p:txBody>
      </p:sp>
    </p:spTree>
    <p:extLst>
      <p:ext uri="{BB962C8B-B14F-4D97-AF65-F5344CB8AC3E}">
        <p14:creationId xmlns:p14="http://schemas.microsoft.com/office/powerpoint/2010/main" val="306258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b="1" dirty="0"/>
              <a:t>Reseña: </a:t>
            </a:r>
            <a:r>
              <a:rPr lang="es-MX" sz="1200" dirty="0"/>
              <a:t>Plataforma  creada en el 2021 cuya finalidad es conocer las oportunidades de mejora internas a través de las sugerencias de los colaboradores, esto abarca desde el anexo de las sugerencias realizadas por un colaborador (Plataforma web), hasta el seguimiento de cada sugerencia (App).</a:t>
            </a:r>
            <a:endParaRPr lang="es-ES" dirty="0"/>
          </a:p>
          <a:p>
            <a:endParaRPr lang="es-MX" sz="1200" dirty="0"/>
          </a:p>
          <a:p>
            <a:r>
              <a:rPr lang="es-MX" sz="1200" b="1" dirty="0"/>
              <a:t>Beneficios: </a:t>
            </a:r>
            <a:r>
              <a:rPr lang="es-MX" sz="1200" dirty="0"/>
              <a:t>Comunicación directa con cada colaborador, eliminar procesos manuales, optimización del proceso de seguimiento, mayor control de la información a través de MySQL.</a:t>
            </a:r>
          </a:p>
          <a:p>
            <a:endParaRPr lang="es-MX" sz="1200" dirty="0"/>
          </a:p>
          <a:p>
            <a:r>
              <a:rPr lang="es-MX" sz="1200" b="1" dirty="0"/>
              <a:t>Tipo de Información:</a:t>
            </a:r>
            <a:r>
              <a:rPr lang="es-MX" sz="1200" dirty="0"/>
              <a:t> Documentos .ppt, </a:t>
            </a:r>
            <a:r>
              <a:rPr lang="es-MX" sz="1200" dirty="0">
                <a:ea typeface="+mn-lt"/>
                <a:cs typeface="+mn-lt"/>
              </a:rPr>
              <a:t>.png, .jpeg, .jpg, .pdf, .xlsx</a:t>
            </a:r>
          </a:p>
          <a:p>
            <a:endParaRPr lang="es-MX" sz="1200" dirty="0"/>
          </a:p>
          <a:p>
            <a:r>
              <a:rPr lang="es-MX" sz="1200" b="1" dirty="0"/>
              <a:t>¿Dónde se almacena la información?:  </a:t>
            </a:r>
            <a:r>
              <a:rPr lang="es-MX" sz="1200" dirty="0"/>
              <a:t>https://vvnorth.com/Sugerencia/index.php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9" y="4087385"/>
            <a:ext cx="6681540" cy="6181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Plataforma?</a:t>
            </a:r>
            <a:r>
              <a:rPr lang="es-MX" sz="1200" dirty="0">
                <a:solidFill>
                  <a:sysClr val="windowText" lastClr="000000"/>
                </a:solidFill>
              </a:rPr>
              <a:t> Administradores (Ing. Mejora Continua), Analistas (Jefes de Área) y Responsables.</a:t>
            </a: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Plataforma:</a:t>
            </a:r>
            <a:r>
              <a:rPr lang="es-MX" sz="1200" dirty="0">
                <a:solidFill>
                  <a:sysClr val="windowText" lastClr="000000"/>
                </a:solidFill>
              </a:rPr>
              <a:t> Agregar, asignar y evaluar sugerencias.</a:t>
            </a:r>
          </a:p>
        </p:txBody>
      </p:sp>
      <p:sp>
        <p:nvSpPr>
          <p:cNvPr id="6" name="Flecha: a la izquierda y derecha 5">
            <a:extLst>
              <a:ext uri="{FF2B5EF4-FFF2-40B4-BE49-F238E27FC236}">
                <a16:creationId xmlns:a16="http://schemas.microsoft.com/office/drawing/2014/main" id="{AE9ECFDE-9852-6BB5-4CDE-32BF6937D574}"/>
              </a:ext>
            </a:extLst>
          </p:cNvPr>
          <p:cNvSpPr/>
          <p:nvPr/>
        </p:nvSpPr>
        <p:spPr>
          <a:xfrm>
            <a:off x="6962335" y="1717300"/>
            <a:ext cx="1083214" cy="295422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4FF7E0-C2EE-25E2-C235-D0F504A46217}"/>
              </a:ext>
            </a:extLst>
          </p:cNvPr>
          <p:cNvSpPr/>
          <p:nvPr/>
        </p:nvSpPr>
        <p:spPr>
          <a:xfrm>
            <a:off x="6962335" y="4087385"/>
            <a:ext cx="4904934" cy="6181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App?</a:t>
            </a:r>
            <a:r>
              <a:rPr lang="es-MX" sz="1200" dirty="0">
                <a:solidFill>
                  <a:sysClr val="windowText" lastClr="000000"/>
                </a:solidFill>
              </a:rPr>
              <a:t> Los Colaboradores.</a:t>
            </a:r>
            <a:endParaRPr lang="es-ES" dirty="0">
              <a:solidFill>
                <a:sysClr val="windowText" lastClr="000000"/>
              </a:solidFill>
            </a:endParaRP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App:</a:t>
            </a:r>
            <a:r>
              <a:rPr lang="es-MX" sz="1200" dirty="0">
                <a:solidFill>
                  <a:sysClr val="windowText" lastClr="000000"/>
                </a:solidFill>
              </a:rPr>
              <a:t> Ver su status de sus sugerencias y cambiar puntos por premios.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137264" y="54323"/>
            <a:ext cx="5052417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2800" b="1" dirty="0">
                <a:solidFill>
                  <a:schemeClr val="bg1"/>
                </a:solidFill>
              </a:rPr>
              <a:t>Plataforma + App Sugerencias</a:t>
            </a:r>
            <a:endParaRPr lang="es-MX" sz="28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71204"/>
            <a:ext cx="4489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PHP, VUE y Axios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C534A4-D333-87CF-3033-A53DB31529C4}"/>
              </a:ext>
            </a:extLst>
          </p:cNvPr>
          <p:cNvSpPr txBox="1"/>
          <p:nvPr/>
        </p:nvSpPr>
        <p:spPr>
          <a:xfrm>
            <a:off x="9984922" y="2226068"/>
            <a:ext cx="204515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Java, Api Rest</a:t>
            </a:r>
          </a:p>
        </p:txBody>
      </p:sp>
      <p:pic>
        <p:nvPicPr>
          <p:cNvPr id="12" name="Imagen 11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33C1616-E44D-24E1-E6EC-7E1F54F2D2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00" r="-144" b="132"/>
          <a:stretch/>
        </p:blipFill>
        <p:spPr>
          <a:xfrm>
            <a:off x="702869" y="307245"/>
            <a:ext cx="6131070" cy="3118732"/>
          </a:xfrm>
          <a:prstGeom prst="rect">
            <a:avLst/>
          </a:prstGeom>
        </p:spPr>
      </p:pic>
      <p:pic>
        <p:nvPicPr>
          <p:cNvPr id="8" name="Imagen 7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5FDB9C2-D8B7-61E7-E59A-97EBF0914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945" y="770192"/>
            <a:ext cx="1620952" cy="321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87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b="1" dirty="0"/>
              <a:t>Reseña: </a:t>
            </a:r>
            <a:r>
              <a:rPr lang="es-MX" sz="1200" dirty="0"/>
              <a:t>Plataforma  creada en el 2023 cuya finalidad es tener un seguimiento de los ahorros, impacto ambiental y los valores del Grupo Gonher.</a:t>
            </a:r>
            <a:endParaRPr lang="es-ES" dirty="0"/>
          </a:p>
          <a:p>
            <a:endParaRPr lang="es-MX" sz="1200" dirty="0"/>
          </a:p>
          <a:p>
            <a:r>
              <a:rPr lang="es-MX" sz="1200" b="1" dirty="0"/>
              <a:t>Beneficios: </a:t>
            </a:r>
            <a:r>
              <a:rPr lang="es-MX" sz="1200" dirty="0"/>
              <a:t>Optimización del seguimiento de proyectos, visualizando el ahorro mensual y anual. Mayor control de la información a través de MySQL.</a:t>
            </a:r>
          </a:p>
          <a:p>
            <a:endParaRPr lang="es-MX" sz="1200" dirty="0"/>
          </a:p>
          <a:p>
            <a:r>
              <a:rPr lang="es-MX" sz="1200" b="1" dirty="0"/>
              <a:t>Tipo de Información:</a:t>
            </a:r>
            <a:r>
              <a:rPr lang="es-MX" sz="1200" dirty="0"/>
              <a:t> Documentos (.ppt, .xls) y referencias bibliográficas.</a:t>
            </a:r>
          </a:p>
          <a:p>
            <a:endParaRPr lang="es-MX" sz="1200" b="1" dirty="0"/>
          </a:p>
          <a:p>
            <a:r>
              <a:rPr lang="es-MX" sz="1200" b="1" dirty="0"/>
              <a:t>¿Dónde se almacena la información?:  </a:t>
            </a:r>
            <a:r>
              <a:rPr lang="es-MX" sz="1200" dirty="0"/>
              <a:t>https://vvnorth.com/OpexTrackingSystem/index.php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8" y="4087385"/>
            <a:ext cx="12039601" cy="6181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Plataforma?</a:t>
            </a:r>
            <a:r>
              <a:rPr lang="es-MX" sz="1200" dirty="0">
                <a:solidFill>
                  <a:sysClr val="windowText" lastClr="000000"/>
                </a:solidFill>
              </a:rPr>
              <a:t> Administrador (Jefe de Excelencia Operativa), Responsables de proyecto y Financieros</a:t>
            </a:r>
            <a:endParaRPr lang="es-ES" dirty="0">
              <a:solidFill>
                <a:sysClr val="windowText" lastClr="000000"/>
              </a:solidFill>
            </a:endParaRP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Plataforma:</a:t>
            </a:r>
            <a:r>
              <a:rPr lang="es-MX" sz="1200" dirty="0">
                <a:solidFill>
                  <a:sysClr val="windowText" lastClr="000000"/>
                </a:solidFill>
              </a:rPr>
              <a:t> Creación de proyectos, seguimiento y visualización de impactos financieros y ambientales.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137264" y="54323"/>
            <a:ext cx="5052417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2400" b="1" dirty="0">
                <a:solidFill>
                  <a:schemeClr val="bg1"/>
                </a:solidFill>
              </a:rPr>
              <a:t>Plataforma OPEX Tracking System 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71204"/>
            <a:ext cx="4489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PHP, VUE y Axios</a:t>
            </a:r>
          </a:p>
        </p:txBody>
      </p:sp>
      <p:pic>
        <p:nvPicPr>
          <p:cNvPr id="7" name="Imagen 6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98063D94-3030-5B5C-F2DB-E89B7E63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79" y="344129"/>
            <a:ext cx="5384940" cy="3154517"/>
          </a:xfrm>
          <a:prstGeom prst="rect">
            <a:avLst/>
          </a:prstGeom>
        </p:spPr>
      </p:pic>
      <p:pic>
        <p:nvPicPr>
          <p:cNvPr id="15" name="Imagen 14" descr="Gráfico, Gráfico radial&#10;&#10;Descripción generada automáticamente">
            <a:extLst>
              <a:ext uri="{FF2B5EF4-FFF2-40B4-BE49-F238E27FC236}">
                <a16:creationId xmlns:a16="http://schemas.microsoft.com/office/drawing/2014/main" id="{885EB316-A350-BE00-0A74-B39F86199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2" y="804837"/>
            <a:ext cx="4829095" cy="243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5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b="1" dirty="0"/>
              <a:t>Reseña: </a:t>
            </a:r>
            <a:r>
              <a:rPr lang="es-MX" sz="1200" dirty="0"/>
              <a:t>Plataforma  creada en el 2022 cuya finalidad es tener un seguimiento de los hallazgos encontrados en los procesos y corregirlos adjuntando la evidencia.</a:t>
            </a:r>
            <a:endParaRPr lang="es-ES" dirty="0"/>
          </a:p>
          <a:p>
            <a:endParaRPr lang="es-MX" sz="1200" dirty="0"/>
          </a:p>
          <a:p>
            <a:r>
              <a:rPr lang="es-MX" sz="1200" b="1" dirty="0"/>
              <a:t>Beneficios: </a:t>
            </a:r>
            <a:r>
              <a:rPr lang="es-MX" sz="1200" dirty="0"/>
              <a:t>Seguimiento digital de los hallazgos manteniendo un historial almacenado en base de datos </a:t>
            </a:r>
            <a:r>
              <a:rPr lang="es-MX" sz="1200" dirty="0" err="1"/>
              <a:t>MySql</a:t>
            </a:r>
            <a:r>
              <a:rPr lang="es-MX" sz="1200" dirty="0"/>
              <a:t>.</a:t>
            </a:r>
          </a:p>
          <a:p>
            <a:endParaRPr lang="es-MX" sz="1200" dirty="0"/>
          </a:p>
          <a:p>
            <a:r>
              <a:rPr lang="es-MX" sz="1200" b="1" dirty="0"/>
              <a:t>Tipo de Información:</a:t>
            </a:r>
            <a:r>
              <a:rPr lang="es-MX" sz="1200" dirty="0"/>
              <a:t> Documentos y fotografías (.ppt, .png).</a:t>
            </a:r>
          </a:p>
          <a:p>
            <a:endParaRPr lang="es-MX" sz="1200" b="1" dirty="0"/>
          </a:p>
          <a:p>
            <a:r>
              <a:rPr lang="es-MX" sz="1200" b="1" dirty="0"/>
              <a:t>¿Dónde se almacena la información?:  </a:t>
            </a:r>
            <a:r>
              <a:rPr lang="es-MX" sz="1200" dirty="0"/>
              <a:t>https://vvnorth.com/ https://vvnorth.com/lpa/index.php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9" y="4087385"/>
            <a:ext cx="12037282" cy="6181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Plataforma?</a:t>
            </a:r>
            <a:r>
              <a:rPr lang="es-MX" sz="1200" dirty="0">
                <a:solidFill>
                  <a:sysClr val="windowText" lastClr="000000"/>
                </a:solidFill>
              </a:rPr>
              <a:t> Administrador (Jefatura Sistemas Integrados de Calidad), Auditores y Responsables.</a:t>
            </a:r>
            <a:endParaRPr lang="es-ES" dirty="0">
              <a:solidFill>
                <a:sysClr val="windowText" lastClr="000000"/>
              </a:solidFill>
            </a:endParaRP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Plataforma:</a:t>
            </a:r>
            <a:r>
              <a:rPr lang="es-MX" sz="1200" dirty="0">
                <a:solidFill>
                  <a:sysClr val="windowText" lastClr="000000"/>
                </a:solidFill>
              </a:rPr>
              <a:t>  Se realizan auditorias de distintos procesos, asignando auditores y responsables.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137264" y="54323"/>
            <a:ext cx="5052417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2400" b="1" dirty="0">
                <a:solidFill>
                  <a:schemeClr val="bg1"/>
                </a:solidFill>
              </a:rPr>
              <a:t>Plataforma + App </a:t>
            </a:r>
            <a:r>
              <a:rPr lang="es-MX" sz="2400" b="1" dirty="0" err="1">
                <a:solidFill>
                  <a:schemeClr val="bg1"/>
                </a:solidFill>
              </a:rPr>
              <a:t>LPA’s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71204"/>
            <a:ext cx="4489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PHP, VUE y Axios</a:t>
            </a:r>
          </a:p>
        </p:txBody>
      </p:sp>
      <p:pic>
        <p:nvPicPr>
          <p:cNvPr id="8" name="Imagen 7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312ED05F-886F-D67E-8756-F94EA25ACF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2" r="2359"/>
          <a:stretch/>
        </p:blipFill>
        <p:spPr>
          <a:xfrm>
            <a:off x="106136" y="421450"/>
            <a:ext cx="5755821" cy="3057422"/>
          </a:xfrm>
          <a:prstGeom prst="rect">
            <a:avLst/>
          </a:prstGeom>
        </p:spPr>
      </p:pic>
      <p:pic>
        <p:nvPicPr>
          <p:cNvPr id="12" name="Imagen 11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7B15327-2796-AD4B-0067-B82037959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083" y="779114"/>
            <a:ext cx="1597896" cy="2773680"/>
          </a:xfrm>
          <a:prstGeom prst="rect">
            <a:avLst/>
          </a:prstGeom>
        </p:spPr>
      </p:pic>
      <p:pic>
        <p:nvPicPr>
          <p:cNvPr id="14" name="Imagen 1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A30F757-677C-F77C-CAA3-A9495D22E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753" y="779114"/>
            <a:ext cx="1539387" cy="2773680"/>
          </a:xfrm>
          <a:prstGeom prst="rect">
            <a:avLst/>
          </a:prstGeom>
        </p:spPr>
      </p:pic>
      <p:pic>
        <p:nvPicPr>
          <p:cNvPr id="17" name="Imagen 16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B38DD1A4-7715-4F50-0E54-F6A13B73A5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922" y="779114"/>
            <a:ext cx="1581151" cy="2773680"/>
          </a:xfrm>
          <a:prstGeom prst="rect">
            <a:avLst/>
          </a:prstGeom>
        </p:spPr>
      </p:pic>
      <p:sp>
        <p:nvSpPr>
          <p:cNvPr id="18" name="Flecha: a la izquierda y derecha 17">
            <a:extLst>
              <a:ext uri="{FF2B5EF4-FFF2-40B4-BE49-F238E27FC236}">
                <a16:creationId xmlns:a16="http://schemas.microsoft.com/office/drawing/2014/main" id="{44513940-E95E-AD50-FDF5-CFD8236BE6B2}"/>
              </a:ext>
            </a:extLst>
          </p:cNvPr>
          <p:cNvSpPr/>
          <p:nvPr/>
        </p:nvSpPr>
        <p:spPr>
          <a:xfrm>
            <a:off x="5982304" y="1494401"/>
            <a:ext cx="1083214" cy="295422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6C54C39-0F9D-25D4-AC61-049F2127C247}"/>
              </a:ext>
            </a:extLst>
          </p:cNvPr>
          <p:cNvSpPr txBox="1"/>
          <p:nvPr/>
        </p:nvSpPr>
        <p:spPr>
          <a:xfrm>
            <a:off x="7202191" y="3570630"/>
            <a:ext cx="4089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JAVA, Conexiones Volley, API Rest Full</a:t>
            </a:r>
          </a:p>
        </p:txBody>
      </p:sp>
    </p:spTree>
    <p:extLst>
      <p:ext uri="{BB962C8B-B14F-4D97-AF65-F5344CB8AC3E}">
        <p14:creationId xmlns:p14="http://schemas.microsoft.com/office/powerpoint/2010/main" val="47183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 dirty="0"/>
              <a:t>Reseña: </a:t>
            </a:r>
            <a:r>
              <a:rPr lang="es-MX" sz="1200" dirty="0"/>
              <a:t>Plataforma  desarrollada en el 2024 cuya finalidad es tener un registro de los resultados de las competencias de proyectos internos, de las plantas Enerya y </a:t>
            </a:r>
            <a:r>
              <a:rPr lang="es-MX" sz="1200" dirty="0" err="1"/>
              <a:t>Riasa</a:t>
            </a:r>
            <a:r>
              <a:rPr lang="es-MX" sz="1200" dirty="0"/>
              <a:t>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Beneficios: </a:t>
            </a:r>
            <a:r>
              <a:rPr lang="es-MX" sz="1200" dirty="0"/>
              <a:t>Mantenemos los resultados y registros de manera digital, respaldado en base de datos </a:t>
            </a:r>
            <a:r>
              <a:rPr lang="es-MX" sz="1200" dirty="0" err="1"/>
              <a:t>MySql</a:t>
            </a:r>
            <a:r>
              <a:rPr lang="es-MX" sz="1200" dirty="0"/>
              <a:t>, cumpliendo el compromiso con el medio ambiente.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Tipo de Información: </a:t>
            </a:r>
            <a:r>
              <a:rPr lang="es-MX" sz="1200" dirty="0"/>
              <a:t>Resultados de competencias.</a:t>
            </a:r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¿Dónde se almacena la información?:  </a:t>
            </a:r>
            <a:r>
              <a:rPr lang="es-MX" sz="1200" dirty="0"/>
              <a:t>https://vvnorth.com/EAD-System/index.php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8" y="4087385"/>
            <a:ext cx="12039601" cy="6181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Plataforma?</a:t>
            </a:r>
            <a:r>
              <a:rPr lang="es-MX" sz="1200" dirty="0">
                <a:solidFill>
                  <a:sysClr val="windowText" lastClr="000000"/>
                </a:solidFill>
              </a:rPr>
              <a:t> Administrador (Jefe de Excelencia Operativa) y Evaluadores.</a:t>
            </a:r>
            <a:endParaRPr lang="es-ES" dirty="0">
              <a:solidFill>
                <a:sysClr val="windowText" lastClr="000000"/>
              </a:solidFill>
            </a:endParaRP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Plataforma:</a:t>
            </a:r>
            <a:r>
              <a:rPr lang="es-MX" sz="1200" dirty="0">
                <a:solidFill>
                  <a:sysClr val="windowText" lastClr="000000"/>
                </a:solidFill>
              </a:rPr>
              <a:t> Se crean los equipos y foros para la competencia de proyectos internos.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137264" y="54323"/>
            <a:ext cx="5052417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2400" b="1" dirty="0">
                <a:solidFill>
                  <a:schemeClr val="bg1"/>
                </a:solidFill>
              </a:rPr>
              <a:t>Plataforma EAD System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71204"/>
            <a:ext cx="4489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PHP, VUE y Axios</a:t>
            </a: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42C052C-E653-2A06-C1E9-923272313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741" y="48757"/>
            <a:ext cx="2600430" cy="3268245"/>
          </a:xfrm>
          <a:prstGeom prst="rect">
            <a:avLst/>
          </a:prstGeom>
        </p:spPr>
      </p:pic>
      <p:pic>
        <p:nvPicPr>
          <p:cNvPr id="7" name="Imagen 6" descr="Interfaz de usuario gráfica, Tabla&#10;&#10;Descripción generada automáticamente">
            <a:extLst>
              <a:ext uri="{FF2B5EF4-FFF2-40B4-BE49-F238E27FC236}">
                <a16:creationId xmlns:a16="http://schemas.microsoft.com/office/drawing/2014/main" id="{9323E9E6-9B5B-648F-9DA2-88936AEFC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263" y="781491"/>
            <a:ext cx="5052417" cy="248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8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 dirty="0"/>
              <a:t>Reseña: </a:t>
            </a:r>
            <a:r>
              <a:rPr lang="es-MX" sz="1200" dirty="0"/>
              <a:t>Plataforma  desarrollada en el 2021, con el objetivo de complementar la capacitación de nuestros clientes nacionales.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Beneficios:  </a:t>
            </a:r>
            <a:r>
              <a:rPr lang="es-MX" sz="1200" dirty="0"/>
              <a:t>Se realiza un test inicial y se procede con la capacitación, esta capacitación cuenta con el proceso de diagnóstico: revisando desde póliza de garantía, inspección del sistema eléctrico, inspección física del acumulador, inspección del estado de carga, revisión de nivel y coloración, proceso de recarga del acumulador, proceso de descarga del acumulador. Contamos con la información de nuestros clientes del antes y después de nuestra capacitación, concentrado de manera digital en nuestra base de datos </a:t>
            </a:r>
            <a:r>
              <a:rPr lang="es-MX" sz="1200" dirty="0" err="1"/>
              <a:t>MySql</a:t>
            </a:r>
            <a:r>
              <a:rPr lang="es-MX" sz="1200" dirty="0"/>
              <a:t>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Tipo de Información: </a:t>
            </a:r>
            <a:r>
              <a:rPr lang="es-MX" sz="1200" dirty="0"/>
              <a:t>Resultados y videos sobre el proceso de diagnóstico.</a:t>
            </a:r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¿Dónde se almacena la información?:  </a:t>
            </a:r>
            <a:r>
              <a:rPr lang="es-MX" sz="1200" dirty="0"/>
              <a:t>https://vvnorth.com/ServicioCliente/index.php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9" y="4087385"/>
            <a:ext cx="12037282" cy="6181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Plataforma?</a:t>
            </a:r>
            <a:r>
              <a:rPr lang="es-MX" sz="1200" dirty="0">
                <a:solidFill>
                  <a:sysClr val="windowText" lastClr="000000"/>
                </a:solidFill>
              </a:rPr>
              <a:t> Administrador (</a:t>
            </a:r>
            <a:r>
              <a:rPr lang="es-ES" sz="1200" dirty="0">
                <a:solidFill>
                  <a:sysClr val="windowText" lastClr="000000"/>
                </a:solidFill>
              </a:rPr>
              <a:t>Jefe de Servicio y Soporte Técnico</a:t>
            </a:r>
            <a:r>
              <a:rPr lang="es-MX" sz="1200" dirty="0">
                <a:solidFill>
                  <a:sysClr val="windowText" lastClr="000000"/>
                </a:solidFill>
              </a:rPr>
              <a:t>) y Clientes.</a:t>
            </a:r>
            <a:endParaRPr lang="es-ES" dirty="0">
              <a:solidFill>
                <a:sysClr val="windowText" lastClr="000000"/>
              </a:solidFill>
            </a:endParaRP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Plataforma: </a:t>
            </a:r>
            <a:r>
              <a:rPr lang="es-MX" sz="1200" dirty="0">
                <a:solidFill>
                  <a:sysClr val="windowText" lastClr="000000"/>
                </a:solidFill>
              </a:rPr>
              <a:t>Capacitar a nuestros clientes nacionales en el proceso de diagnóstico de un acumulador.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137264" y="54323"/>
            <a:ext cx="5052417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MX" sz="2400" b="1" dirty="0">
                <a:solidFill>
                  <a:schemeClr val="bg1"/>
                </a:solidFill>
              </a:rPr>
              <a:t>Plataforma Servicio al Cliente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71204"/>
            <a:ext cx="4489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PHP, </a:t>
            </a:r>
            <a:r>
              <a:rPr lang="es-MX" sz="1400" dirty="0" err="1">
                <a:solidFill>
                  <a:schemeClr val="accent1">
                    <a:lumMod val="75000"/>
                  </a:schemeClr>
                </a:solidFill>
              </a:rPr>
              <a:t>Jquery</a:t>
            </a:r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, AJAX.</a:t>
            </a: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F76C95C-7ED3-4E6E-ACE4-689831958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96473"/>
            <a:ext cx="5461907" cy="2717438"/>
          </a:xfrm>
          <a:prstGeom prst="rect">
            <a:avLst/>
          </a:prstGeom>
        </p:spPr>
      </p:pic>
      <p:pic>
        <p:nvPicPr>
          <p:cNvPr id="10" name="Imagen 9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5899A0A-CBE6-F43E-B37B-511CB9DBA6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"/>
          <a:stretch/>
        </p:blipFill>
        <p:spPr>
          <a:xfrm>
            <a:off x="7137264" y="698067"/>
            <a:ext cx="5005749" cy="247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89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/>
              <a:t>Reseña: </a:t>
            </a:r>
            <a:r>
              <a:rPr lang="es-MX" sz="1200" dirty="0"/>
              <a:t> Capacitación virtual creada en el 2019, surge desde la necesidad de capacitar al personal y que se logrará detectar los defectos en inyectora, introduciendo al colaborador después de la capacitación al área de inyectora asignada.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Beneficios: </a:t>
            </a:r>
            <a:r>
              <a:rPr lang="es-MX" sz="1200" dirty="0"/>
              <a:t>La capacitación se realiza de manera virtual, evaluado el desempeño de cada colaborador obteniendo los resultados de manera digital, por consecuencia siendo amigables en el tema de impacto ambiental y medio ambiente.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Tipo de Información: </a:t>
            </a:r>
            <a:r>
              <a:rPr lang="es-MX" sz="1200" dirty="0"/>
              <a:t>Ayudas visuales y calificación individual por colaborado.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¿Dónde se almacena la información?: </a:t>
            </a:r>
            <a:r>
              <a:rPr lang="es-MX" sz="1200" dirty="0"/>
              <a:t>Se almacena de manera local en equipo de computo (4YDGB03) asignado por TI.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9" y="3932380"/>
            <a:ext cx="12053669" cy="541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Simulación?</a:t>
            </a:r>
            <a:r>
              <a:rPr lang="es-MX" sz="1200" dirty="0">
                <a:solidFill>
                  <a:sysClr val="windowText" lastClr="000000"/>
                </a:solidFill>
              </a:rPr>
              <a:t> Capacitador de Formación (Ingeniero en entrenamiento -Inyectora).</a:t>
            </a: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Simulación : </a:t>
            </a:r>
            <a:r>
              <a:rPr lang="es-MX" sz="1200" dirty="0">
                <a:solidFill>
                  <a:sysClr val="windowText" lastClr="000000"/>
                </a:solidFill>
              </a:rPr>
              <a:t>Detectar distintos tipos de piezas inconformes que se presentan en inyectora.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301134" y="54323"/>
            <a:ext cx="4904934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b="1" dirty="0">
                <a:solidFill>
                  <a:schemeClr val="bg1"/>
                </a:solidFill>
              </a:rPr>
              <a:t>Capacitación RV (Inyectora)</a:t>
            </a:r>
            <a:endParaRPr lang="es-MX" sz="28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63040"/>
            <a:ext cx="4489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Unreal Engine, C++ y tecnología </a:t>
            </a:r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Blueprint Visual Scripting</a:t>
            </a:r>
            <a:endParaRPr lang="es-MX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179A24-9611-2F55-57DC-9DCE2E2F3F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134" y="858214"/>
            <a:ext cx="4774569" cy="2633983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A79DB7D5-7E0A-30F5-A78B-A04464DC3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6" y="106453"/>
            <a:ext cx="3620463" cy="3055678"/>
          </a:xfrm>
          <a:prstGeom prst="rect">
            <a:avLst/>
          </a:prstGeom>
        </p:spPr>
      </p:pic>
      <p:pic>
        <p:nvPicPr>
          <p:cNvPr id="12" name="Imagen 11" descr="Imagen que contiene interior, parado, hombre, vivo&#10;&#10;Descripción generada automáticamente">
            <a:extLst>
              <a:ext uri="{FF2B5EF4-FFF2-40B4-BE49-F238E27FC236}">
                <a16:creationId xmlns:a16="http://schemas.microsoft.com/office/drawing/2014/main" id="{842E7A4B-486A-B413-5E80-D839674471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417" b="64542" l="18889" r="60741">
                        <a14:foregroundMark x1="33426" y1="61208" x2="32130" y2="63833"/>
                        <a14:foregroundMark x1="42685" y1="61417" x2="45000" y2="63792"/>
                        <a14:foregroundMark x1="32130" y1="64042" x2="31481" y2="64250"/>
                        <a14:foregroundMark x1="46574" y1="64375" x2="45000" y2="64542"/>
                        <a14:foregroundMark x1="46296" y1="63833" x2="47037" y2="63917"/>
                        <a14:foregroundMark x1="30833" y1="63583" x2="29630" y2="64375"/>
                        <a14:foregroundMark x1="37315" y1="30625" x2="40185" y2="27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45" t="24394" r="33887" b="34058"/>
          <a:stretch/>
        </p:blipFill>
        <p:spPr>
          <a:xfrm>
            <a:off x="3301178" y="167828"/>
            <a:ext cx="1728022" cy="3052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494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Reseña: </a:t>
            </a:r>
            <a:r>
              <a:rPr lang="es-MX" sz="1200" dirty="0"/>
              <a:t> Capacitación virtual creada en el 2019, surge desde la necesidad de capacitar al personal, para lograr la correcta forma de cargar los acumuladores e introduciendo al colaborador después de la capacitación al área de formación asignada.</a:t>
            </a:r>
          </a:p>
          <a:p>
            <a:endParaRPr lang="es-MX" sz="1200" dirty="0"/>
          </a:p>
          <a:p>
            <a:r>
              <a:rPr lang="es-MX" sz="1200" b="1" dirty="0"/>
              <a:t>Beneficios: </a:t>
            </a:r>
            <a:r>
              <a:rPr lang="es-MX" sz="1200" dirty="0"/>
              <a:t>La capacitación se realiza de manera virtual, evaluado el desempeño de cada colaborador obteniendo los resultados de manera digital, por consecuencia siendo amigables en el tema de impacto ambiental y medio ambiente.</a:t>
            </a:r>
          </a:p>
          <a:p>
            <a:endParaRPr lang="es-MX" sz="1200" dirty="0"/>
          </a:p>
          <a:p>
            <a:r>
              <a:rPr lang="es-MX" sz="1200" b="1" dirty="0"/>
              <a:t>Tipo de Información: </a:t>
            </a:r>
            <a:r>
              <a:rPr lang="es-MX" sz="1200" dirty="0"/>
              <a:t>Ayudas visuales y calificación individual por colaborado.</a:t>
            </a:r>
          </a:p>
          <a:p>
            <a:endParaRPr lang="es-MX" sz="1200" dirty="0"/>
          </a:p>
          <a:p>
            <a:r>
              <a:rPr lang="es-MX" sz="1200" b="1" dirty="0"/>
              <a:t>¿Dónde se almacena la información?: </a:t>
            </a:r>
            <a:r>
              <a:rPr lang="es-MX" sz="1200" dirty="0"/>
              <a:t>Se almacena de manera local en equipo de computo (4YDGB03) asignado por TI.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9" y="3932380"/>
            <a:ext cx="12053669" cy="541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Simulación?</a:t>
            </a:r>
            <a:r>
              <a:rPr lang="es-MX" sz="1200" dirty="0">
                <a:solidFill>
                  <a:sysClr val="windowText" lastClr="000000"/>
                </a:solidFill>
              </a:rPr>
              <a:t> Capacitador de Formación (</a:t>
            </a:r>
            <a:r>
              <a:rPr lang="es-ES" sz="1200" dirty="0">
                <a:solidFill>
                  <a:srgbClr val="262626"/>
                </a:solidFill>
                <a:effectLst/>
                <a:latin typeface="Segoe UI" panose="020B0502040204020203" pitchFamily="34" charset="0"/>
              </a:rPr>
              <a:t>Ing. en Entrenamiento Up. For. y Acab.</a:t>
            </a:r>
            <a:r>
              <a:rPr lang="es-MX" sz="1200" dirty="0">
                <a:solidFill>
                  <a:sysClr val="windowText" lastClr="000000"/>
                </a:solidFill>
              </a:rPr>
              <a:t>).</a:t>
            </a: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Simulación : </a:t>
            </a:r>
            <a:r>
              <a:rPr lang="es-MX" sz="1200" dirty="0">
                <a:solidFill>
                  <a:sysClr val="windowText" lastClr="000000"/>
                </a:solidFill>
              </a:rPr>
              <a:t>Capacitar al personal para realizar la carga de energía de los acumuladores correctamente.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301134" y="54323"/>
            <a:ext cx="4904934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b="1" dirty="0">
                <a:solidFill>
                  <a:schemeClr val="bg1"/>
                </a:solidFill>
              </a:rPr>
              <a:t>Capacitación RV (Formación)</a:t>
            </a:r>
            <a:endParaRPr lang="es-MX" sz="28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63040"/>
            <a:ext cx="4489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Unreal Engine, C++ y tecnología </a:t>
            </a:r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Blueprint Visual Scripting</a:t>
            </a:r>
            <a:endParaRPr lang="es-MX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Imagen 6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6D31C917-AF4A-36C9-598A-02633C88C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80" y="742623"/>
            <a:ext cx="4792019" cy="2686378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E2EDF2FC-CE90-EBAB-E86B-A7373249C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72692"/>
            <a:ext cx="3620463" cy="3055678"/>
          </a:xfrm>
          <a:prstGeom prst="rect">
            <a:avLst/>
          </a:prstGeom>
        </p:spPr>
      </p:pic>
      <p:pic>
        <p:nvPicPr>
          <p:cNvPr id="16" name="Imagen 15" descr="Una persona sentado en el piso&#10;&#10;Descripción generada automáticamente con confianza baja">
            <a:extLst>
              <a:ext uri="{FF2B5EF4-FFF2-40B4-BE49-F238E27FC236}">
                <a16:creationId xmlns:a16="http://schemas.microsoft.com/office/drawing/2014/main" id="{39014CDE-D4F3-4274-3EDB-E724514219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667" b="80583" l="6852" r="61667">
                        <a14:foregroundMark x1="20093" y1="77333" x2="17963" y2="80125"/>
                        <a14:foregroundMark x1="15741" y1="79833" x2="15741" y2="79833"/>
                        <a14:foregroundMark x1="14630" y1="79625" x2="14630" y2="79625"/>
                        <a14:foregroundMark x1="16111" y1="80583" x2="16111" y2="80583"/>
                        <a14:foregroundMark x1="15000" y1="80542" x2="15000" y2="80542"/>
                        <a14:backgroundMark x1="39074" y1="71083" x2="36944" y2="74583"/>
                        <a14:backgroundMark x1="15833" y1="81208" x2="15833" y2="81208"/>
                        <a14:backgroundMark x1="14907" y1="80958" x2="14907" y2="80958"/>
                        <a14:backgroundMark x1="20093" y1="70833" x2="20093" y2="70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125" r="31409" b="16666"/>
          <a:stretch/>
        </p:blipFill>
        <p:spPr>
          <a:xfrm>
            <a:off x="3426643" y="-314960"/>
            <a:ext cx="1693996" cy="36337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9601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186-23C2-7FBC-0068-6478B860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51EF3E2-60F2-3088-D5BF-C88DEE7AF169}"/>
              </a:ext>
            </a:extLst>
          </p:cNvPr>
          <p:cNvSpPr txBox="1"/>
          <p:nvPr/>
        </p:nvSpPr>
        <p:spPr>
          <a:xfrm>
            <a:off x="152399" y="4774938"/>
            <a:ext cx="11594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/>
              <a:t>Reseña: </a:t>
            </a:r>
            <a:r>
              <a:rPr lang="es-MX" sz="1200" dirty="0"/>
              <a:t>Capacitación virtual en el 2019, surge desde la necesidad de capacitar al personal y que se logrará detectar los defectos de las placas, introduciendo al colaborador después de la capacitación al área de placas asignada.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Beneficios: </a:t>
            </a:r>
            <a:r>
              <a:rPr lang="es-MX" sz="1200" dirty="0"/>
              <a:t>La capacitación se realiza de manera virtual, esto nos ayuda a obtener los resultados de cada colaborar de manera digital, por consecuencia siendo amigables en el tema de impacto ambiental y medio ambiente.</a:t>
            </a:r>
          </a:p>
          <a:p>
            <a:pPr algn="just"/>
            <a:endParaRPr lang="es-MX" sz="1200" u="sng" dirty="0"/>
          </a:p>
          <a:p>
            <a:pPr algn="just"/>
            <a:r>
              <a:rPr lang="es-MX" sz="1200" b="1" dirty="0"/>
              <a:t>Tipo de Información: </a:t>
            </a:r>
            <a:r>
              <a:rPr lang="es-MX" sz="1200" dirty="0"/>
              <a:t>Ayudas visuales y calificación individual por colaborado.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¿Dónde se almacena la información?:  </a:t>
            </a:r>
            <a:r>
              <a:rPr lang="es-MX" sz="1200" dirty="0"/>
              <a:t>Se almacena de manera local en equipo de computo (4YDGB03) asignado por TI.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B6BAF2-4DE5-31AE-983C-BC32FDFF2788}"/>
              </a:ext>
            </a:extLst>
          </p:cNvPr>
          <p:cNvSpPr/>
          <p:nvPr/>
        </p:nvSpPr>
        <p:spPr>
          <a:xfrm>
            <a:off x="152399" y="3932380"/>
            <a:ext cx="12053669" cy="541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b="1" dirty="0">
                <a:solidFill>
                  <a:sysClr val="windowText" lastClr="000000"/>
                </a:solidFill>
              </a:rPr>
              <a:t>¿Quién Accede a la Simulación?</a:t>
            </a:r>
            <a:r>
              <a:rPr lang="es-MX" sz="1200" dirty="0">
                <a:solidFill>
                  <a:sysClr val="windowText" lastClr="000000"/>
                </a:solidFill>
              </a:rPr>
              <a:t> Capacitador de Placas (</a:t>
            </a:r>
            <a:r>
              <a:rPr lang="es-ES" sz="1200" dirty="0">
                <a:solidFill>
                  <a:srgbClr val="262626"/>
                </a:solidFill>
                <a:effectLst/>
                <a:latin typeface="Segoe UI" panose="020B0502040204020203" pitchFamily="34" charset="0"/>
              </a:rPr>
              <a:t>Supervisor de Producción Up. Form. y Acabado</a:t>
            </a:r>
            <a:r>
              <a:rPr lang="es-MX" sz="1200" dirty="0">
                <a:solidFill>
                  <a:sysClr val="windowText" lastClr="000000"/>
                </a:solidFill>
              </a:rPr>
              <a:t>).</a:t>
            </a:r>
          </a:p>
          <a:p>
            <a:r>
              <a:rPr lang="es-MX" sz="1200" b="1" dirty="0">
                <a:solidFill>
                  <a:sysClr val="windowText" lastClr="000000"/>
                </a:solidFill>
              </a:rPr>
              <a:t>Uso de la Simulación : </a:t>
            </a:r>
            <a:r>
              <a:rPr lang="es-MX" sz="1200" dirty="0">
                <a:solidFill>
                  <a:sysClr val="windowText" lastClr="000000"/>
                </a:solidFill>
              </a:rPr>
              <a:t>Capacitar al personal del área de placas para detectar los distintos defectos que se puedan presentar en producción.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347C8C-C58E-6855-26D4-6C35B4887A46}"/>
              </a:ext>
            </a:extLst>
          </p:cNvPr>
          <p:cNvSpPr/>
          <p:nvPr/>
        </p:nvSpPr>
        <p:spPr>
          <a:xfrm>
            <a:off x="7301134" y="54323"/>
            <a:ext cx="4904934" cy="596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b="1" dirty="0">
                <a:solidFill>
                  <a:schemeClr val="bg1"/>
                </a:solidFill>
              </a:rPr>
              <a:t>Capacitación RV (Placas)</a:t>
            </a:r>
            <a:endParaRPr lang="es-MX" sz="28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373D7-CCCB-4527-9ED1-C71D5D4CAA5F}"/>
              </a:ext>
            </a:extLst>
          </p:cNvPr>
          <p:cNvSpPr txBox="1"/>
          <p:nvPr/>
        </p:nvSpPr>
        <p:spPr>
          <a:xfrm>
            <a:off x="152399" y="3460807"/>
            <a:ext cx="4489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</a:rPr>
              <a:t>Lenguaje: Unreal Engine, C++ y tecnología </a:t>
            </a:r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Blueprint Visual Scripting</a:t>
            </a:r>
            <a:endParaRPr lang="es-MX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DDA6327-D0DA-F9E6-AE5B-F79614F06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738" y="846494"/>
            <a:ext cx="4756013" cy="2661589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894CA1B6-7F64-46EC-9D37-169786C17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98" y="169343"/>
            <a:ext cx="3620463" cy="3055678"/>
          </a:xfrm>
          <a:prstGeom prst="rect">
            <a:avLst/>
          </a:prstGeom>
        </p:spPr>
      </p:pic>
      <p:pic>
        <p:nvPicPr>
          <p:cNvPr id="14" name="Imagen 13" descr="Hombre parado enfrente de una televisión&#10;&#10;Descripción generada automáticamente con confianza baja">
            <a:extLst>
              <a:ext uri="{FF2B5EF4-FFF2-40B4-BE49-F238E27FC236}">
                <a16:creationId xmlns:a16="http://schemas.microsoft.com/office/drawing/2014/main" id="{6B6B3B9D-0D9B-BF3C-2D70-CFCB4C1E90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500" b="71458" l="25741" r="77130">
                        <a14:foregroundMark x1="41481" y1="70542" x2="41481" y2="70542"/>
                        <a14:foregroundMark x1="38981" y1="71458" x2="38981" y2="71458"/>
                        <a14:foregroundMark x1="55278" y1="70417" x2="55278" y2="70417"/>
                        <a14:foregroundMark x1="52500" y1="70000" x2="52500" y2="70000"/>
                        <a14:foregroundMark x1="59167" y1="69875" x2="59167" y2="69875"/>
                        <a14:backgroundMark x1="45648" y1="64125" x2="45370" y2="65917"/>
                        <a14:backgroundMark x1="46111" y1="69542" x2="46111" y2="69542"/>
                        <a14:backgroundMark x1="45926" y1="65708" x2="45000" y2="69417"/>
                        <a14:backgroundMark x1="55185" y1="43083" x2="55185" y2="43083"/>
                        <a14:backgroundMark x1="55093" y1="41917" x2="55093" y2="41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55" t="10001" r="16273" b="24718"/>
          <a:stretch/>
        </p:blipFill>
        <p:spPr>
          <a:xfrm>
            <a:off x="3669072" y="-605014"/>
            <a:ext cx="1741128" cy="39299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6781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1530</Words>
  <Application>Microsoft Office PowerPoint</Application>
  <PresentationFormat>Panorámica</PresentationFormat>
  <Paragraphs>106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Bertino Hernandez Cancino</dc:creator>
  <cp:lastModifiedBy>Genaro Villanueva Perez</cp:lastModifiedBy>
  <cp:revision>11</cp:revision>
  <dcterms:created xsi:type="dcterms:W3CDTF">2024-03-27T14:52:46Z</dcterms:created>
  <dcterms:modified xsi:type="dcterms:W3CDTF">2024-04-02T15:05:30Z</dcterms:modified>
</cp:coreProperties>
</file>